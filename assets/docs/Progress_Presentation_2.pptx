
<file path=[Content_Types].xml><?xml version="1.0" encoding="utf-8"?>
<Types xmlns="http://schemas.openxmlformats.org/package/2006/content-types">
  <Default Extension="jpg" ContentType="image/jpeg"/>
  <Default Extension="odttf" ContentType="application/vnd.openxmlformats-officedocument.obfuscatedFont"/>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custom-properties" Target="docProps/custom.xml"/><Relationship Id="rId2" Type="http://schemas.openxmlformats.org/officeDocument/2006/relationships/officeDocument" Target="ppt/presentation.xml"/><Relationship Id="rId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17" roundtripDataSignature="AMtx7miD7ICcCv7NKpnN02szWpdhkxrq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9940763-D4CB-4C20-ACFE-D7CAF158DE7C}">
  <a:tblStyle styleId="{A9940763-D4CB-4C20-ACFE-D7CAF158DE7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408ED77-F72C-40E4-819F-6961558314F8}"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8" Type="http://schemas.openxmlformats.org/officeDocument/2006/relationships/slide" Target="slides/slide2.xml"/><Relationship Id="rId18" Type="http://schemas.openxmlformats.org/officeDocument/2006/relationships/customXml" Target="../customXml/item1.xml"/><Relationship Id="rId3" Type="http://schemas.openxmlformats.org/officeDocument/2006/relationships/presProps" Target="presProps.xml"/><Relationship Id="rId12" Type="http://schemas.openxmlformats.org/officeDocument/2006/relationships/slide" Target="slides/slide6.xml"/><Relationship Id="rId17" Type="http://customschemas.google.com/relationships/presentationmetadata" Target="metadata"/><Relationship Id="rId7" Type="http://schemas.openxmlformats.org/officeDocument/2006/relationships/slide" Target="slides/slide1.xml"/><Relationship Id="rId2" Type="http://schemas.openxmlformats.org/officeDocument/2006/relationships/viewProps" Target="viewProps.xml"/><Relationship Id="rId16" Type="http://schemas.openxmlformats.org/officeDocument/2006/relationships/slide" Target="slides/slide10.xml"/><Relationship Id="rId20" Type="http://schemas.openxmlformats.org/officeDocument/2006/relationships/customXml" Target="../customXml/item3.xml"/><Relationship Id="rId11" Type="http://schemas.openxmlformats.org/officeDocument/2006/relationships/slide" Target="slides/slide5.xml"/><Relationship Id="rId1" Type="http://schemas.openxmlformats.org/officeDocument/2006/relationships/theme" Target="theme/theme1.xml"/><Relationship Id="rId6" Type="http://schemas.openxmlformats.org/officeDocument/2006/relationships/notesMaster" Target="notesMasters/notesMaster1.xml"/><Relationship Id="rId15" Type="http://schemas.openxmlformats.org/officeDocument/2006/relationships/slide" Target="slides/slide9.xml"/><Relationship Id="rId5" Type="http://schemas.openxmlformats.org/officeDocument/2006/relationships/slideMaster" Target="slideMasters/slideMaster1.xml"/><Relationship Id="rId10" Type="http://schemas.openxmlformats.org/officeDocument/2006/relationships/slide" Target="slides/slide4.xml"/><Relationship Id="rId19" Type="http://schemas.openxmlformats.org/officeDocument/2006/relationships/customXml" Target="../customXml/item2.xml"/><Relationship Id="rId4" Type="http://schemas.openxmlformats.org/officeDocument/2006/relationships/tableStyles" Target="tableStyles.xml"/><Relationship Id="rId9" Type="http://schemas.openxmlformats.org/officeDocument/2006/relationships/slide" Target="slides/slide3.xml"/><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f8aed657b0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5" name="Google Shape;85;g3f8aed657b0_3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g3f8aed657b0_3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8aed657b0_3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2" name="Google Shape;92;g3f8aed657b0_3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g3f8aed657b0_3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f8aed657b0_1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f8aed657b0_1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g3f8aed657b0_1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8aed657b0_3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f8aed657b0_3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g3f8aed657b0_3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f8aed657b0_1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f8aed657b0_1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g3f8aed657b0_1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8aed657b0_1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f8aed657b0_1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g3f8aed657b0_1_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8aed657b0_1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8aed657b0_1_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g3f8aed657b0_1_4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_Title Slide" type="title">
  <p:cSld name="TITLE">
    <p:spTree>
      <p:nvGrpSpPr>
        <p:cNvPr id="15" name="Shape 15"/>
        <p:cNvGrpSpPr/>
        <p:nvPr/>
      </p:nvGrpSpPr>
      <p:grpSpPr>
        <a:xfrm>
          <a:off x="0" y="0"/>
          <a:ext cx="0" cy="0"/>
          <a:chOff x="0" y="0"/>
          <a:chExt cx="0" cy="0"/>
        </a:xfrm>
      </p:grpSpPr>
      <p:sp>
        <p:nvSpPr>
          <p:cNvPr id="16" name="Google Shape;16;p27"/>
          <p:cNvSpPr txBox="1"/>
          <p:nvPr>
            <p:ph type="ctrTitle"/>
          </p:nvPr>
        </p:nvSpPr>
        <p:spPr>
          <a:xfrm>
            <a:off x="914400" y="762000"/>
            <a:ext cx="103632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7"/>
          <p:cNvSpPr txBox="1"/>
          <p:nvPr>
            <p:ph idx="1" type="subTitle"/>
          </p:nvPr>
        </p:nvSpPr>
        <p:spPr>
          <a:xfrm>
            <a:off x="1828800" y="2514600"/>
            <a:ext cx="85344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pic>
        <p:nvPicPr>
          <p:cNvPr descr="A picture containing photo, table, person, monitor&#10;&#10;Description automatically generated" id="18" name="Google Shape;18;p27"/>
          <p:cNvPicPr preferRelativeResize="0"/>
          <p:nvPr/>
        </p:nvPicPr>
        <p:blipFill rotWithShape="1">
          <a:blip r:embed="rId2">
            <a:alphaModFix/>
          </a:blip>
          <a:srcRect b="0" l="0" r="71976" t="90286"/>
          <a:stretch/>
        </p:blipFill>
        <p:spPr>
          <a:xfrm>
            <a:off x="0" y="6373302"/>
            <a:ext cx="2514600" cy="49030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spTree>
      <p:nvGrpSpPr>
        <p:cNvPr id="19" name="Shape 19"/>
        <p:cNvGrpSpPr/>
        <p:nvPr/>
      </p:nvGrpSpPr>
      <p:grpSpPr>
        <a:xfrm>
          <a:off x="0" y="0"/>
          <a:ext cx="0" cy="0"/>
          <a:chOff x="0" y="0"/>
          <a:chExt cx="0" cy="0"/>
        </a:xfrm>
      </p:grpSpPr>
      <p:sp>
        <p:nvSpPr>
          <p:cNvPr id="20" name="Google Shape;20;p28"/>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8"/>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pic>
        <p:nvPicPr>
          <p:cNvPr descr="A picture containing photo, table, person, monitor&#10;&#10;Description automatically generated" id="22" name="Google Shape;22;p28"/>
          <p:cNvPicPr preferRelativeResize="0"/>
          <p:nvPr/>
        </p:nvPicPr>
        <p:blipFill rotWithShape="1">
          <a:blip r:embed="rId2">
            <a:alphaModFix/>
          </a:blip>
          <a:srcRect b="0" l="0" r="71976" t="90286"/>
          <a:stretch/>
        </p:blipFill>
        <p:spPr>
          <a:xfrm>
            <a:off x="0" y="6373302"/>
            <a:ext cx="2514600" cy="49030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Information Section" type="secHead">
  <p:cSld name="SECTION_HEADER">
    <p:spTree>
      <p:nvGrpSpPr>
        <p:cNvPr id="23" name="Shape 23"/>
        <p:cNvGrpSpPr/>
        <p:nvPr/>
      </p:nvGrpSpPr>
      <p:grpSpPr>
        <a:xfrm>
          <a:off x="0" y="0"/>
          <a:ext cx="0" cy="0"/>
          <a:chOff x="0" y="0"/>
          <a:chExt cx="0" cy="0"/>
        </a:xfrm>
      </p:grpSpPr>
      <p:sp>
        <p:nvSpPr>
          <p:cNvPr id="24" name="Google Shape;24;p29"/>
          <p:cNvSpPr txBox="1"/>
          <p:nvPr>
            <p:ph type="title"/>
          </p:nvPr>
        </p:nvSpPr>
        <p:spPr>
          <a:xfrm>
            <a:off x="963084" y="2837087"/>
            <a:ext cx="103632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9"/>
          <p:cNvSpPr txBox="1"/>
          <p:nvPr>
            <p:ph idx="1" type="body"/>
          </p:nvPr>
        </p:nvSpPr>
        <p:spPr>
          <a:xfrm>
            <a:off x="963084" y="4237261"/>
            <a:ext cx="103632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29"/>
          <p:cNvSpPr/>
          <p:nvPr/>
        </p:nvSpPr>
        <p:spPr>
          <a:xfrm>
            <a:off x="0" y="6676906"/>
            <a:ext cx="12192000" cy="181095"/>
          </a:xfrm>
          <a:prstGeom prst="triangle">
            <a:avLst>
              <a:gd fmla="val 39397" name="adj"/>
            </a:avLst>
          </a:prstGeom>
          <a:solidFill>
            <a:schemeClr val="l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mbria"/>
              <a:ea typeface="Cambria"/>
              <a:cs typeface="Cambria"/>
              <a:sym typeface="Cambri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7" name="Shape 27"/>
        <p:cNvGrpSpPr/>
        <p:nvPr/>
      </p:nvGrpSpPr>
      <p:grpSpPr>
        <a:xfrm>
          <a:off x="0" y="0"/>
          <a:ext cx="0" cy="0"/>
          <a:chOff x="0" y="0"/>
          <a:chExt cx="0" cy="0"/>
        </a:xfrm>
      </p:grpSpPr>
      <p:sp>
        <p:nvSpPr>
          <p:cNvPr id="28" name="Google Shape;28;p30"/>
          <p:cNvSpPr txBox="1"/>
          <p:nvPr>
            <p:ph type="title"/>
          </p:nvPr>
        </p:nvSpPr>
        <p:spPr>
          <a:xfrm>
            <a:off x="963084" y="2837087"/>
            <a:ext cx="103632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0"/>
          <p:cNvSpPr txBox="1"/>
          <p:nvPr>
            <p:ph idx="1" type="body"/>
          </p:nvPr>
        </p:nvSpPr>
        <p:spPr>
          <a:xfrm>
            <a:off x="963084" y="4237261"/>
            <a:ext cx="103632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0"/>
          <p:cNvSpPr/>
          <p:nvPr/>
        </p:nvSpPr>
        <p:spPr>
          <a:xfrm>
            <a:off x="2632435" y="6492874"/>
            <a:ext cx="6816365"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Cambria"/>
                <a:ea typeface="Cambria"/>
                <a:cs typeface="Cambria"/>
                <a:sym typeface="Cambria"/>
              </a:rPr>
              <a:t>ITXXXXXXXX</a:t>
            </a:r>
            <a:r>
              <a:rPr lang="en-US" sz="1800">
                <a:solidFill>
                  <a:schemeClr val="dk1"/>
                </a:solidFill>
                <a:latin typeface="Cambria"/>
                <a:ea typeface="Cambria"/>
                <a:cs typeface="Cambria"/>
                <a:sym typeface="Cambria"/>
              </a:rPr>
              <a:t>   |   &lt;</a:t>
            </a:r>
            <a:r>
              <a:rPr b="1" lang="en-US" sz="1800">
                <a:solidFill>
                  <a:schemeClr val="dk1"/>
                </a:solidFill>
                <a:latin typeface="Cambria"/>
                <a:ea typeface="Cambria"/>
                <a:cs typeface="Cambria"/>
                <a:sym typeface="Cambria"/>
              </a:rPr>
              <a:t>&lt;Student Name&gt;&gt;   </a:t>
            </a:r>
            <a:r>
              <a:rPr lang="en-US" sz="1800">
                <a:solidFill>
                  <a:schemeClr val="dk1"/>
                </a:solidFill>
                <a:latin typeface="Cambria"/>
                <a:ea typeface="Cambria"/>
                <a:cs typeface="Cambria"/>
                <a:sym typeface="Cambria"/>
              </a:rPr>
              <a:t>|   </a:t>
            </a:r>
            <a:r>
              <a:rPr b="0" lang="en-US" sz="1800">
                <a:solidFill>
                  <a:schemeClr val="dk1"/>
                </a:solidFill>
                <a:latin typeface="Cambria"/>
                <a:ea typeface="Cambria"/>
                <a:cs typeface="Cambria"/>
                <a:sym typeface="Cambria"/>
              </a:rPr>
              <a:t>&lt;&lt;Project ID&gt;&gt;</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31"/>
          <p:cNvSpPr txBox="1"/>
          <p:nvPr>
            <p:ph type="title"/>
          </p:nvPr>
        </p:nvSpPr>
        <p:spPr>
          <a:xfrm>
            <a:off x="304800" y="304800"/>
            <a:ext cx="116840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1"/>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4" name="Google Shape;34;p31"/>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ividual_Title and Content" type="obj">
  <p:cSld name="OBJECT">
    <p:spTree>
      <p:nvGrpSpPr>
        <p:cNvPr id="35" name="Shape 35"/>
        <p:cNvGrpSpPr/>
        <p:nvPr/>
      </p:nvGrpSpPr>
      <p:grpSpPr>
        <a:xfrm>
          <a:off x="0" y="0"/>
          <a:ext cx="0" cy="0"/>
          <a:chOff x="0" y="0"/>
          <a:chExt cx="0" cy="0"/>
        </a:xfrm>
      </p:grpSpPr>
      <p:sp>
        <p:nvSpPr>
          <p:cNvPr id="36" name="Google Shape;36;p32"/>
          <p:cNvSpPr txBox="1"/>
          <p:nvPr>
            <p:ph type="title"/>
          </p:nvPr>
        </p:nvSpPr>
        <p:spPr>
          <a:xfrm>
            <a:off x="304800" y="304800"/>
            <a:ext cx="116840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32"/>
          <p:cNvSpPr txBox="1"/>
          <p:nvPr>
            <p:ph idx="1" type="body"/>
          </p:nvPr>
        </p:nvSpPr>
        <p:spPr>
          <a:xfrm>
            <a:off x="304800" y="1143000"/>
            <a:ext cx="11684000" cy="5181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8" name="Google Shape;38;p32"/>
          <p:cNvSpPr/>
          <p:nvPr/>
        </p:nvSpPr>
        <p:spPr>
          <a:xfrm>
            <a:off x="0" y="6482208"/>
            <a:ext cx="12192000" cy="376686"/>
          </a:xfrm>
          <a:prstGeom prst="triangle">
            <a:avLst>
              <a:gd fmla="val 62762" name="adj"/>
            </a:avLst>
          </a:prstGeom>
          <a:solidFill>
            <a:schemeClr val="l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mbria"/>
              <a:ea typeface="Cambria"/>
              <a:cs typeface="Cambria"/>
              <a:sym typeface="Cambria"/>
            </a:endParaRPr>
          </a:p>
        </p:txBody>
      </p:sp>
      <p:sp>
        <p:nvSpPr>
          <p:cNvPr id="39" name="Google Shape;39;p32"/>
          <p:cNvSpPr/>
          <p:nvPr/>
        </p:nvSpPr>
        <p:spPr>
          <a:xfrm>
            <a:off x="0" y="6676906"/>
            <a:ext cx="12192000" cy="181095"/>
          </a:xfrm>
          <a:prstGeom prst="triangle">
            <a:avLst>
              <a:gd fmla="val 39397" name="adj"/>
            </a:avLst>
          </a:prstGeom>
          <a:solidFill>
            <a:schemeClr val="l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mbria"/>
              <a:ea typeface="Cambria"/>
              <a:cs typeface="Cambria"/>
              <a:sym typeface="Cambri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all_Title and Content">
  <p:cSld name="Overall_Title and Content">
    <p:spTree>
      <p:nvGrpSpPr>
        <p:cNvPr id="40" name="Shape 40"/>
        <p:cNvGrpSpPr/>
        <p:nvPr/>
      </p:nvGrpSpPr>
      <p:grpSpPr>
        <a:xfrm>
          <a:off x="0" y="0"/>
          <a:ext cx="0" cy="0"/>
          <a:chOff x="0" y="0"/>
          <a:chExt cx="0" cy="0"/>
        </a:xfrm>
      </p:grpSpPr>
      <p:sp>
        <p:nvSpPr>
          <p:cNvPr id="41" name="Google Shape;41;p33"/>
          <p:cNvSpPr txBox="1"/>
          <p:nvPr>
            <p:ph type="title"/>
          </p:nvPr>
        </p:nvSpPr>
        <p:spPr>
          <a:xfrm>
            <a:off x="304800" y="304800"/>
            <a:ext cx="116840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3"/>
          <p:cNvSpPr txBox="1"/>
          <p:nvPr>
            <p:ph idx="1" type="body"/>
          </p:nvPr>
        </p:nvSpPr>
        <p:spPr>
          <a:xfrm>
            <a:off x="304800" y="1143000"/>
            <a:ext cx="11684000" cy="5181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34"/>
          <p:cNvSpPr txBox="1"/>
          <p:nvPr>
            <p:ph type="title"/>
          </p:nvPr>
        </p:nvSpPr>
        <p:spPr>
          <a:xfrm>
            <a:off x="304800" y="304800"/>
            <a:ext cx="116840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34"/>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6" name="Google Shape;46;p34"/>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7" name="Google Shape;47;p34"/>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8" name="Google Shape;48;p34"/>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5"/>
          <p:cNvSpPr txBox="1"/>
          <p:nvPr>
            <p:ph type="title"/>
          </p:nvPr>
        </p:nvSpPr>
        <p:spPr>
          <a:xfrm>
            <a:off x="304800" y="304800"/>
            <a:ext cx="116840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36"/>
          <p:cNvSpPr/>
          <p:nvPr/>
        </p:nvSpPr>
        <p:spPr>
          <a:xfrm>
            <a:off x="0" y="6482208"/>
            <a:ext cx="12192000" cy="376686"/>
          </a:xfrm>
          <a:prstGeom prst="triangle">
            <a:avLst>
              <a:gd fmla="val 62762" name="adj"/>
            </a:avLst>
          </a:prstGeom>
          <a:solidFill>
            <a:schemeClr val="l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mbria"/>
              <a:ea typeface="Cambria"/>
              <a:cs typeface="Cambria"/>
              <a:sym typeface="Cambria"/>
            </a:endParaRPr>
          </a:p>
        </p:txBody>
      </p:sp>
      <p:sp>
        <p:nvSpPr>
          <p:cNvPr id="53" name="Google Shape;53;p36"/>
          <p:cNvSpPr/>
          <p:nvPr/>
        </p:nvSpPr>
        <p:spPr>
          <a:xfrm>
            <a:off x="0" y="6676906"/>
            <a:ext cx="12192000" cy="181095"/>
          </a:xfrm>
          <a:prstGeom prst="triangle">
            <a:avLst>
              <a:gd fmla="val 39397" name="adj"/>
            </a:avLst>
          </a:prstGeom>
          <a:solidFill>
            <a:schemeClr val="l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mbria"/>
              <a:ea typeface="Cambria"/>
              <a:cs typeface="Cambria"/>
              <a:sym typeface="Cambria"/>
            </a:endParaRPr>
          </a:p>
        </p:txBody>
      </p:sp>
      <p:sp>
        <p:nvSpPr>
          <p:cNvPr id="54" name="Google Shape;54;p36"/>
          <p:cNvSpPr txBox="1"/>
          <p:nvPr/>
        </p:nvSpPr>
        <p:spPr>
          <a:xfrm>
            <a:off x="11435142" y="6492875"/>
            <a:ext cx="680658"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b="1" lang="en-US" sz="1400">
                <a:solidFill>
                  <a:schemeClr val="dk1"/>
                </a:solidFill>
                <a:latin typeface="Cambria"/>
                <a:ea typeface="Cambria"/>
                <a:cs typeface="Cambria"/>
                <a:sym typeface="Cambria"/>
              </a:rPr>
              <a:t>‹#›</a:t>
            </a:fld>
            <a:endParaRPr b="1" sz="1400">
              <a:solidFill>
                <a:schemeClr val="dk1"/>
              </a:solidFill>
              <a:latin typeface="Cambria"/>
              <a:ea typeface="Cambria"/>
              <a:cs typeface="Cambria"/>
              <a:sym typeface="Cambr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37"/>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37"/>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8" name="Google Shape;58;p37"/>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9" name="Google Shape;59;p37"/>
          <p:cNvSpPr/>
          <p:nvPr/>
        </p:nvSpPr>
        <p:spPr>
          <a:xfrm>
            <a:off x="0" y="6406010"/>
            <a:ext cx="12192000" cy="452885"/>
          </a:xfrm>
          <a:prstGeom prst="triangle">
            <a:avLst>
              <a:gd fmla="val 85448" name="adj"/>
            </a:avLst>
          </a:prstGeom>
          <a:solidFill>
            <a:schemeClr val="l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mbria"/>
              <a:ea typeface="Cambria"/>
              <a:cs typeface="Cambria"/>
              <a:sym typeface="Cambria"/>
            </a:endParaRPr>
          </a:p>
        </p:txBody>
      </p:sp>
      <p:sp>
        <p:nvSpPr>
          <p:cNvPr id="60" name="Google Shape;60;p37"/>
          <p:cNvSpPr/>
          <p:nvPr/>
        </p:nvSpPr>
        <p:spPr>
          <a:xfrm>
            <a:off x="0" y="6482208"/>
            <a:ext cx="12192000" cy="376686"/>
          </a:xfrm>
          <a:prstGeom prst="triangle">
            <a:avLst>
              <a:gd fmla="val 62762" name="adj"/>
            </a:avLst>
          </a:prstGeom>
          <a:solidFill>
            <a:schemeClr val="l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mbria"/>
              <a:ea typeface="Cambria"/>
              <a:cs typeface="Cambria"/>
              <a:sym typeface="Cambria"/>
            </a:endParaRPr>
          </a:p>
        </p:txBody>
      </p:sp>
      <p:sp>
        <p:nvSpPr>
          <p:cNvPr id="61" name="Google Shape;61;p37"/>
          <p:cNvSpPr/>
          <p:nvPr/>
        </p:nvSpPr>
        <p:spPr>
          <a:xfrm>
            <a:off x="0" y="6676906"/>
            <a:ext cx="12192000" cy="181095"/>
          </a:xfrm>
          <a:prstGeom prst="triangle">
            <a:avLst>
              <a:gd fmla="val 39397" name="adj"/>
            </a:avLst>
          </a:prstGeom>
          <a:solidFill>
            <a:schemeClr val="l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mbria"/>
              <a:ea typeface="Cambria"/>
              <a:cs typeface="Cambria"/>
              <a:sym typeface="Cambria"/>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38"/>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38"/>
          <p:cNvSpPr/>
          <p:nvPr>
            <p:ph idx="2" type="pic"/>
          </p:nvPr>
        </p:nvSpPr>
        <p:spPr>
          <a:xfrm>
            <a:off x="2389717" y="612775"/>
            <a:ext cx="7315200" cy="4114800"/>
          </a:xfrm>
          <a:prstGeom prst="rect">
            <a:avLst/>
          </a:prstGeom>
          <a:noFill/>
          <a:ln>
            <a:noFill/>
          </a:ln>
        </p:spPr>
      </p:sp>
      <p:sp>
        <p:nvSpPr>
          <p:cNvPr id="65" name="Google Shape;65;p38"/>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6" name="Google Shape;66;p38"/>
          <p:cNvSpPr/>
          <p:nvPr/>
        </p:nvSpPr>
        <p:spPr>
          <a:xfrm>
            <a:off x="0" y="6676906"/>
            <a:ext cx="12192000" cy="181095"/>
          </a:xfrm>
          <a:prstGeom prst="triangle">
            <a:avLst>
              <a:gd fmla="val 39397" name="adj"/>
            </a:avLst>
          </a:prstGeom>
          <a:solidFill>
            <a:schemeClr val="l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mbria"/>
              <a:ea typeface="Cambria"/>
              <a:cs typeface="Cambria"/>
              <a:sym typeface="Cambria"/>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7" name="Shape 67"/>
        <p:cNvGrpSpPr/>
        <p:nvPr/>
      </p:nvGrpSpPr>
      <p:grpSpPr>
        <a:xfrm>
          <a:off x="0" y="0"/>
          <a:ext cx="0" cy="0"/>
          <a:chOff x="0" y="0"/>
          <a:chExt cx="0" cy="0"/>
        </a:xfrm>
      </p:grpSpPr>
      <p:sp>
        <p:nvSpPr>
          <p:cNvPr id="68" name="Google Shape;68;p39"/>
          <p:cNvSpPr txBox="1"/>
          <p:nvPr>
            <p:ph type="title"/>
          </p:nvPr>
        </p:nvSpPr>
        <p:spPr>
          <a:xfrm>
            <a:off x="304800" y="304800"/>
            <a:ext cx="116840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39"/>
          <p:cNvSpPr txBox="1"/>
          <p:nvPr>
            <p:ph idx="1" type="body"/>
          </p:nvPr>
        </p:nvSpPr>
        <p:spPr>
          <a:xfrm rot="5400000">
            <a:off x="3556000" y="-2108200"/>
            <a:ext cx="5181600" cy="116840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0" name="Google Shape;70;p39"/>
          <p:cNvSpPr/>
          <p:nvPr/>
        </p:nvSpPr>
        <p:spPr>
          <a:xfrm>
            <a:off x="0" y="6676906"/>
            <a:ext cx="12192000" cy="181095"/>
          </a:xfrm>
          <a:prstGeom prst="triangle">
            <a:avLst>
              <a:gd fmla="val 39397" name="adj"/>
            </a:avLst>
          </a:prstGeom>
          <a:solidFill>
            <a:schemeClr val="l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mbria"/>
              <a:ea typeface="Cambria"/>
              <a:cs typeface="Cambria"/>
              <a:sym typeface="Cambria"/>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1" name="Shape 71"/>
        <p:cNvGrpSpPr/>
        <p:nvPr/>
      </p:nvGrpSpPr>
      <p:grpSpPr>
        <a:xfrm>
          <a:off x="0" y="0"/>
          <a:ext cx="0" cy="0"/>
          <a:chOff x="0" y="0"/>
          <a:chExt cx="0" cy="0"/>
        </a:xfrm>
      </p:grpSpPr>
      <p:sp>
        <p:nvSpPr>
          <p:cNvPr id="72" name="Google Shape;72;p40"/>
          <p:cNvSpPr txBox="1"/>
          <p:nvPr>
            <p:ph type="title"/>
          </p:nvPr>
        </p:nvSpPr>
        <p:spPr>
          <a:xfrm rot="5400000">
            <a:off x="7285038" y="1828802"/>
            <a:ext cx="5851525" cy="2743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40"/>
          <p:cNvSpPr txBox="1"/>
          <p:nvPr>
            <p:ph idx="1" type="body"/>
          </p:nvPr>
        </p:nvSpPr>
        <p:spPr>
          <a:xfrm rot="5400000">
            <a:off x="1697038" y="-812799"/>
            <a:ext cx="5851525" cy="80264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4" name="Google Shape;74;p40"/>
          <p:cNvSpPr/>
          <p:nvPr/>
        </p:nvSpPr>
        <p:spPr>
          <a:xfrm>
            <a:off x="0" y="6482208"/>
            <a:ext cx="12192000" cy="376686"/>
          </a:xfrm>
          <a:prstGeom prst="triangle">
            <a:avLst>
              <a:gd fmla="val 62762" name="adj"/>
            </a:avLst>
          </a:prstGeom>
          <a:solidFill>
            <a:schemeClr val="l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mbria"/>
              <a:ea typeface="Cambria"/>
              <a:cs typeface="Cambria"/>
              <a:sym typeface="Cambria"/>
            </a:endParaRPr>
          </a:p>
        </p:txBody>
      </p:sp>
      <p:sp>
        <p:nvSpPr>
          <p:cNvPr id="75" name="Google Shape;75;p40"/>
          <p:cNvSpPr/>
          <p:nvPr/>
        </p:nvSpPr>
        <p:spPr>
          <a:xfrm>
            <a:off x="0" y="6676906"/>
            <a:ext cx="12192000" cy="181095"/>
          </a:xfrm>
          <a:prstGeom prst="triangle">
            <a:avLst>
              <a:gd fmla="val 39397" name="adj"/>
            </a:avLst>
          </a:prstGeom>
          <a:solidFill>
            <a:schemeClr val="lt1">
              <a:alpha val="2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mbria"/>
              <a:ea typeface="Cambria"/>
              <a:cs typeface="Cambria"/>
              <a:sym typeface="Cambria"/>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304800" y="304800"/>
            <a:ext cx="11684000" cy="792162"/>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6"/>
          <p:cNvSpPr txBox="1"/>
          <p:nvPr>
            <p:ph idx="1" type="body"/>
          </p:nvPr>
        </p:nvSpPr>
        <p:spPr>
          <a:xfrm>
            <a:off x="304800" y="1143000"/>
            <a:ext cx="11684000" cy="5181600"/>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mbria"/>
                <a:ea typeface="Cambria"/>
                <a:cs typeface="Cambria"/>
                <a:sym typeface="Cambria"/>
              </a:defRPr>
            </a:lvl1pPr>
            <a:lvl2pPr indent="-406400" lvl="1" marL="914400" marR="0" rtl="0" algn="l">
              <a:spcBef>
                <a:spcPts val="560"/>
              </a:spcBef>
              <a:spcAft>
                <a:spcPts val="0"/>
              </a:spcAft>
              <a:buClr>
                <a:schemeClr val="dk1"/>
              </a:buClr>
              <a:buSzPts val="2800"/>
              <a:buFont typeface="Noto Sans Symbols"/>
              <a:buChar char="⮚"/>
              <a:defRPr b="0" i="0" sz="2800" u="none" cap="none" strike="noStrike">
                <a:solidFill>
                  <a:schemeClr val="dk1"/>
                </a:solidFill>
                <a:latin typeface="Cambria"/>
                <a:ea typeface="Cambria"/>
                <a:cs typeface="Cambria"/>
                <a:sym typeface="Cambria"/>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mbria"/>
                <a:ea typeface="Cambria"/>
                <a:cs typeface="Cambria"/>
                <a:sym typeface="Cambria"/>
              </a:defRPr>
            </a:lvl3pPr>
            <a:lvl4pPr indent="-355600" lvl="3" marL="1828800" marR="0" rtl="0" algn="l">
              <a:spcBef>
                <a:spcPts val="400"/>
              </a:spcBef>
              <a:spcAft>
                <a:spcPts val="0"/>
              </a:spcAft>
              <a:buClr>
                <a:schemeClr val="dk1"/>
              </a:buClr>
              <a:buSzPts val="2000"/>
              <a:buFont typeface="Noto Sans Symbols"/>
              <a:buChar char="▪"/>
              <a:defRPr b="0" i="0" sz="2000" u="none" cap="none" strike="noStrike">
                <a:solidFill>
                  <a:schemeClr val="dk1"/>
                </a:solidFill>
                <a:latin typeface="Cambria"/>
                <a:ea typeface="Cambria"/>
                <a:cs typeface="Cambria"/>
                <a:sym typeface="Cambria"/>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9pPr>
          </a:lstStyle>
          <a:p/>
        </p:txBody>
      </p:sp>
      <p:sp>
        <p:nvSpPr>
          <p:cNvPr id="12" name="Google Shape;12;p26"/>
          <p:cNvSpPr txBox="1"/>
          <p:nvPr/>
        </p:nvSpPr>
        <p:spPr>
          <a:xfrm>
            <a:off x="11435142" y="6492875"/>
            <a:ext cx="680658"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b="1" i="0" lang="en-US" sz="1400" u="none" cap="none" strike="noStrike">
                <a:solidFill>
                  <a:schemeClr val="dk1"/>
                </a:solidFill>
                <a:latin typeface="Cambria"/>
                <a:ea typeface="Cambria"/>
                <a:cs typeface="Cambria"/>
                <a:sym typeface="Cambria"/>
              </a:rPr>
              <a:t>‹#›</a:t>
            </a:fld>
            <a:endParaRPr b="1" i="0" sz="1400" u="none" cap="none" strike="noStrike">
              <a:solidFill>
                <a:schemeClr val="dk1"/>
              </a:solidFill>
              <a:latin typeface="Cambria"/>
              <a:ea typeface="Cambria"/>
              <a:cs typeface="Cambria"/>
              <a:sym typeface="Cambria"/>
            </a:endParaRPr>
          </a:p>
        </p:txBody>
      </p:sp>
      <p:pic>
        <p:nvPicPr>
          <p:cNvPr descr="A picture containing photo, table, person, monitor&#10;&#10;Description automatically generated" id="13" name="Google Shape;13;p26"/>
          <p:cNvPicPr preferRelativeResize="0"/>
          <p:nvPr/>
        </p:nvPicPr>
        <p:blipFill rotWithShape="1">
          <a:blip r:embed="rId1">
            <a:alphaModFix/>
          </a:blip>
          <a:srcRect b="0" l="0" r="71976" t="90286"/>
          <a:stretch/>
        </p:blipFill>
        <p:spPr>
          <a:xfrm>
            <a:off x="0" y="6373302"/>
            <a:ext cx="2514600" cy="490308"/>
          </a:xfrm>
          <a:prstGeom prst="rect">
            <a:avLst/>
          </a:prstGeom>
          <a:noFill/>
          <a:ln>
            <a:noFill/>
          </a:ln>
        </p:spPr>
      </p:pic>
      <p:sp>
        <p:nvSpPr>
          <p:cNvPr id="14" name="Google Shape;14;p26"/>
          <p:cNvSpPr txBox="1"/>
          <p:nvPr/>
        </p:nvSpPr>
        <p:spPr>
          <a:xfrm>
            <a:off x="10287000" y="6536937"/>
            <a:ext cx="106680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chemeClr val="dk1"/>
                </a:solidFill>
                <a:latin typeface="Cambria"/>
                <a:ea typeface="Cambria"/>
                <a:cs typeface="Cambria"/>
                <a:sym typeface="Cambria"/>
              </a:rPr>
              <a:t>8/30/2026</a:t>
            </a:r>
            <a:endParaRPr b="1" sz="1200">
              <a:solidFill>
                <a:schemeClr val="dk1"/>
              </a:solidFill>
              <a:latin typeface="Cambria"/>
              <a:ea typeface="Cambria"/>
              <a:cs typeface="Cambria"/>
              <a:sym typeface="Cambria"/>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drive.google.com/file/d/1fWRzPfwVxtnA6q4ffI9FxzOkLjdSUApK/view" TargetMode="Externa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
          <p:cNvSpPr txBox="1"/>
          <p:nvPr>
            <p:ph type="ctrTitle"/>
          </p:nvPr>
        </p:nvSpPr>
        <p:spPr>
          <a:xfrm>
            <a:off x="893524" y="365342"/>
            <a:ext cx="10738980" cy="1470025"/>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mbria"/>
              <a:buNone/>
            </a:pPr>
            <a:r>
              <a:rPr lang="en-US">
                <a:latin typeface="Cambria"/>
                <a:ea typeface="Cambria"/>
                <a:cs typeface="Cambria"/>
                <a:sym typeface="Cambria"/>
              </a:rPr>
              <a:t>Inclusive Al Fashion Stylist with Measurement and Color-Blind Safety Analysis</a:t>
            </a:r>
            <a:endParaRPr/>
          </a:p>
        </p:txBody>
      </p:sp>
      <p:sp>
        <p:nvSpPr>
          <p:cNvPr id="81" name="Google Shape;81;p1"/>
          <p:cNvSpPr txBox="1"/>
          <p:nvPr>
            <p:ph idx="1" type="subTitle"/>
          </p:nvPr>
        </p:nvSpPr>
        <p:spPr>
          <a:xfrm>
            <a:off x="1985375" y="1836107"/>
            <a:ext cx="8534400" cy="531313"/>
          </a:xfrm>
          <a:prstGeom prst="rect">
            <a:avLst/>
          </a:prstGeom>
          <a:noFill/>
          <a:ln>
            <a:noFill/>
          </a:ln>
        </p:spPr>
        <p:txBody>
          <a:bodyPr anchorCtr="0" anchor="t" bIns="45700" lIns="91425" spcFirstLastPara="1" rIns="91425" wrap="square" tIns="45700">
            <a:normAutofit lnSpcReduction="10000"/>
          </a:bodyPr>
          <a:lstStyle/>
          <a:p>
            <a:pPr indent="0" lvl="0" marL="0" rtl="0" algn="ctr">
              <a:spcBef>
                <a:spcPts val="0"/>
              </a:spcBef>
              <a:spcAft>
                <a:spcPts val="0"/>
              </a:spcAft>
              <a:buClr>
                <a:srgbClr val="888888"/>
              </a:buClr>
              <a:buSzPts val="3200"/>
              <a:buNone/>
            </a:pPr>
            <a:r>
              <a:rPr lang="en-US"/>
              <a:t>R26-ISE-001 </a:t>
            </a:r>
            <a:endParaRPr/>
          </a:p>
        </p:txBody>
      </p:sp>
      <p:pic>
        <p:nvPicPr>
          <p:cNvPr id="82" name="Google Shape;82;p1"/>
          <p:cNvPicPr preferRelativeResize="0"/>
          <p:nvPr/>
        </p:nvPicPr>
        <p:blipFill rotWithShape="1">
          <a:blip r:embed="rId3">
            <a:alphaModFix/>
          </a:blip>
          <a:srcRect b="0" l="0" r="-101" t="18163"/>
          <a:stretch/>
        </p:blipFill>
        <p:spPr>
          <a:xfrm>
            <a:off x="1067323" y="2473891"/>
            <a:ext cx="10370521" cy="41857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f8aed657b0_3_0"/>
          <p:cNvSpPr txBox="1"/>
          <p:nvPr>
            <p:ph type="ctrTitle"/>
          </p:nvPr>
        </p:nvSpPr>
        <p:spPr>
          <a:xfrm>
            <a:off x="914400" y="762000"/>
            <a:ext cx="10363200" cy="1470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Panel Comments in PP1</a:t>
            </a:r>
            <a:endParaRPr/>
          </a:p>
        </p:txBody>
      </p:sp>
      <p:graphicFrame>
        <p:nvGraphicFramePr>
          <p:cNvPr id="89" name="Google Shape;89;g3f8aed657b0_3_0"/>
          <p:cNvGraphicFramePr/>
          <p:nvPr/>
        </p:nvGraphicFramePr>
        <p:xfrm>
          <a:off x="952500" y="2476500"/>
          <a:ext cx="3000000" cy="3000000"/>
        </p:xfrm>
        <a:graphic>
          <a:graphicData uri="http://schemas.openxmlformats.org/drawingml/2006/table">
            <a:tbl>
              <a:tblPr>
                <a:noFill/>
                <a:tableStyleId>{A9940763-D4CB-4C20-ACFE-D7CAF158DE7C}</a:tableStyleId>
              </a:tblPr>
              <a:tblGrid>
                <a:gridCol w="5143500"/>
                <a:gridCol w="5143500"/>
              </a:tblGrid>
              <a:tr h="381000">
                <a:tc>
                  <a:txBody>
                    <a:bodyPr/>
                    <a:lstStyle/>
                    <a:p>
                      <a:pPr indent="0" lvl="0" marL="0" rtl="0" algn="ctr">
                        <a:spcBef>
                          <a:spcPts val="0"/>
                        </a:spcBef>
                        <a:spcAft>
                          <a:spcPts val="0"/>
                        </a:spcAft>
                        <a:buNone/>
                      </a:pPr>
                      <a:r>
                        <a:rPr b="1" lang="en-US" sz="1900"/>
                        <a:t>Comment</a:t>
                      </a:r>
                      <a:endParaRPr b="1" sz="1900"/>
                    </a:p>
                  </a:txBody>
                  <a:tcPr marT="91425" marB="91425" marR="91425" marL="91425"/>
                </a:tc>
                <a:tc>
                  <a:txBody>
                    <a:bodyPr/>
                    <a:lstStyle/>
                    <a:p>
                      <a:pPr indent="0" lvl="0" marL="0" rtl="0" algn="ctr">
                        <a:spcBef>
                          <a:spcPts val="0"/>
                        </a:spcBef>
                        <a:spcAft>
                          <a:spcPts val="0"/>
                        </a:spcAft>
                        <a:buNone/>
                      </a:pPr>
                      <a:r>
                        <a:rPr b="1" lang="en-US" sz="1900"/>
                        <a:t>How we fix it</a:t>
                      </a:r>
                      <a:endParaRPr b="1" sz="1900"/>
                    </a:p>
                  </a:txBody>
                  <a:tcPr marT="91425" marB="91425" marR="91425" marL="91425"/>
                </a:tc>
              </a:tr>
              <a:tr h="480100">
                <a:tc>
                  <a:txBody>
                    <a:bodyPr/>
                    <a:lstStyle/>
                    <a:p>
                      <a:pPr indent="0" lvl="0" marL="0" rtl="0" algn="l">
                        <a:spcBef>
                          <a:spcPts val="0"/>
                        </a:spcBef>
                        <a:spcAft>
                          <a:spcPts val="0"/>
                        </a:spcAft>
                        <a:buNone/>
                      </a:pPr>
                      <a:r>
                        <a:rPr lang="en-US" sz="1500"/>
                        <a:t>IT22259820 - </a:t>
                      </a:r>
                      <a:r>
                        <a:rPr lang="en-US" sz="1300">
                          <a:solidFill>
                            <a:srgbClr val="002060"/>
                          </a:solidFill>
                          <a:highlight>
                            <a:srgbClr val="FFF2CC"/>
                          </a:highlight>
                        </a:rPr>
                        <a:t>get accurate images for the measurements.</a:t>
                      </a:r>
                      <a:r>
                        <a:rPr lang="en-US" sz="1200">
                          <a:solidFill>
                            <a:schemeClr val="dk1"/>
                          </a:solidFill>
                        </a:rPr>
                        <a:t> </a:t>
                      </a:r>
                      <a:endParaRPr sz="1500"/>
                    </a:p>
                  </a:txBody>
                  <a:tcPr marT="91425" marB="91425" marR="91425" marL="91425"/>
                </a:tc>
                <a:tc>
                  <a:txBody>
                    <a:bodyPr/>
                    <a:lstStyle/>
                    <a:p>
                      <a:pPr indent="0" lvl="0" marL="0" rtl="0" algn="l">
                        <a:spcBef>
                          <a:spcPts val="0"/>
                        </a:spcBef>
                        <a:spcAft>
                          <a:spcPts val="0"/>
                        </a:spcAft>
                        <a:buNone/>
                      </a:pPr>
                      <a:r>
                        <a:rPr lang="en-US"/>
                        <a:t>I </a:t>
                      </a:r>
                      <a:r>
                        <a:rPr lang="en-US"/>
                        <a:t>collected individual straight-standing images of each participant to improve the accuracy of the measurements. </a:t>
                      </a:r>
                      <a:endParaRPr/>
                    </a:p>
                  </a:txBody>
                  <a:tcPr marT="91425" marB="91425" marR="91425" marL="91425"/>
                </a:tc>
              </a:tr>
              <a:tr h="381000">
                <a:tc>
                  <a:txBody>
                    <a:bodyPr/>
                    <a:lstStyle/>
                    <a:p>
                      <a:pPr indent="0" lvl="0" marL="0" rtl="0" algn="l">
                        <a:spcBef>
                          <a:spcPts val="0"/>
                        </a:spcBef>
                        <a:spcAft>
                          <a:spcPts val="0"/>
                        </a:spcAft>
                        <a:buNone/>
                      </a:pPr>
                      <a:r>
                        <a:rPr lang="en-US" sz="1500"/>
                        <a:t>IT22260192 -</a:t>
                      </a:r>
                      <a:r>
                        <a:rPr lang="en-US" sz="1300">
                          <a:solidFill>
                            <a:srgbClr val="002060"/>
                          </a:solidFill>
                          <a:highlight>
                            <a:srgbClr val="FFF2CC"/>
                          </a:highlight>
                        </a:rPr>
                        <a:t>the matching </a:t>
                      </a:r>
                      <a:r>
                        <a:rPr lang="en-US" sz="1300">
                          <a:solidFill>
                            <a:srgbClr val="002060"/>
                          </a:solidFill>
                          <a:highlight>
                            <a:srgbClr val="FFF2CC"/>
                          </a:highlight>
                        </a:rPr>
                        <a:t>doesn't</a:t>
                      </a:r>
                      <a:r>
                        <a:rPr lang="en-US" sz="1300">
                          <a:solidFill>
                            <a:srgbClr val="002060"/>
                          </a:solidFill>
                          <a:highlight>
                            <a:srgbClr val="FFF2CC"/>
                          </a:highlight>
                        </a:rPr>
                        <a:t> give correct output.</a:t>
                      </a:r>
                      <a:r>
                        <a:rPr lang="en-US" sz="1200">
                          <a:solidFill>
                            <a:schemeClr val="dk1"/>
                          </a:solidFill>
                        </a:rPr>
                        <a:t> </a:t>
                      </a:r>
                      <a:endParaRPr sz="1500"/>
                    </a:p>
                  </a:txBody>
                  <a:tcPr marT="91425" marB="91425" marR="91425" marL="91425"/>
                </a:tc>
                <a:tc>
                  <a:txBody>
                    <a:bodyPr/>
                    <a:lstStyle/>
                    <a:p>
                      <a:pPr indent="0" lvl="0" marL="0" rtl="0" algn="l">
                        <a:spcBef>
                          <a:spcPts val="0"/>
                        </a:spcBef>
                        <a:spcAft>
                          <a:spcPts val="0"/>
                        </a:spcAft>
                        <a:buNone/>
                      </a:pPr>
                      <a:r>
                        <a:rPr lang="en-US"/>
                        <a:t>For PP2,  using an improved dataset to develop a accurate outfit recommendation system after dataset issues affected the PP1 model’s output.</a:t>
                      </a:r>
                      <a:endParaRPr/>
                    </a:p>
                  </a:txBody>
                  <a:tcPr marT="91425" marB="91425" marR="91425" marL="91425"/>
                </a:tc>
              </a:tr>
              <a:tr h="381000">
                <a:tc>
                  <a:txBody>
                    <a:bodyPr/>
                    <a:lstStyle/>
                    <a:p>
                      <a:pPr indent="0" lvl="0" marL="0" rtl="0" algn="l">
                        <a:spcBef>
                          <a:spcPts val="0"/>
                        </a:spcBef>
                        <a:spcAft>
                          <a:spcPts val="0"/>
                        </a:spcAft>
                        <a:buNone/>
                      </a:pPr>
                      <a:r>
                        <a:rPr lang="en-US" sz="1500"/>
                        <a:t>IT22098698 - </a:t>
                      </a:r>
                      <a:r>
                        <a:rPr lang="en-US" sz="1300">
                          <a:solidFill>
                            <a:srgbClr val="002060"/>
                          </a:solidFill>
                          <a:highlight>
                            <a:srgbClr val="FFF2CC"/>
                          </a:highlight>
                        </a:rPr>
                        <a:t>the matching </a:t>
                      </a:r>
                      <a:r>
                        <a:rPr lang="en-US" sz="1300">
                          <a:solidFill>
                            <a:srgbClr val="002060"/>
                          </a:solidFill>
                          <a:highlight>
                            <a:srgbClr val="FFF2CC"/>
                          </a:highlight>
                        </a:rPr>
                        <a:t>doesn't</a:t>
                      </a:r>
                      <a:r>
                        <a:rPr lang="en-US" sz="1300">
                          <a:solidFill>
                            <a:srgbClr val="002060"/>
                          </a:solidFill>
                          <a:highlight>
                            <a:srgbClr val="FFF2CC"/>
                          </a:highlight>
                        </a:rPr>
                        <a:t> give correct output. improve it for many colours.</a:t>
                      </a:r>
                      <a:r>
                        <a:rPr lang="en-US" sz="1200">
                          <a:solidFill>
                            <a:schemeClr val="dk1"/>
                          </a:solidFill>
                        </a:rPr>
                        <a:t> </a:t>
                      </a:r>
                      <a:endParaRPr sz="1500"/>
                    </a:p>
                  </a:txBody>
                  <a:tcPr marT="91425" marB="91425" marR="91425" marL="91425"/>
                </a:tc>
                <a:tc>
                  <a:txBody>
                    <a:bodyPr/>
                    <a:lstStyle/>
                    <a:p>
                      <a:pPr indent="0" lvl="0" marL="0" rtl="0" algn="l">
                        <a:spcBef>
                          <a:spcPts val="0"/>
                        </a:spcBef>
                        <a:spcAft>
                          <a:spcPts val="0"/>
                        </a:spcAft>
                        <a:buNone/>
                      </a:pPr>
                      <a:r>
                        <a:rPr lang="en-US"/>
                        <a:t>Improve the model for </a:t>
                      </a:r>
                      <a:r>
                        <a:rPr lang="en-US"/>
                        <a:t>multi-color</a:t>
                      </a:r>
                      <a:r>
                        <a:rPr lang="en-US"/>
                        <a:t> outfits as well</a:t>
                      </a:r>
                      <a:endParaRPr/>
                    </a:p>
                  </a:txBody>
                  <a:tcPr marT="91425" marB="91425" marR="91425" marL="91425"/>
                </a:tc>
              </a:tr>
              <a:tr h="381000">
                <a:tc>
                  <a:txBody>
                    <a:bodyPr/>
                    <a:lstStyle/>
                    <a:p>
                      <a:pPr indent="0" lvl="0" marL="0" rtl="0" algn="l">
                        <a:spcBef>
                          <a:spcPts val="0"/>
                        </a:spcBef>
                        <a:spcAft>
                          <a:spcPts val="0"/>
                        </a:spcAft>
                        <a:buNone/>
                      </a:pPr>
                      <a:r>
                        <a:rPr lang="en-US" sz="1500"/>
                        <a:t>IT22242372—</a:t>
                      </a:r>
                      <a:r>
                        <a:rPr lang="en-US" sz="1300">
                          <a:highlight>
                            <a:srgbClr val="FFF2CC"/>
                          </a:highlight>
                        </a:rPr>
                        <a:t>Good.</a:t>
                      </a:r>
                      <a:r>
                        <a:rPr lang="en-US" sz="1100">
                          <a:solidFill>
                            <a:srgbClr val="002060"/>
                          </a:solidFill>
                          <a:highlight>
                            <a:srgbClr val="FFF2CC"/>
                          </a:highlight>
                        </a:rPr>
                        <a:t> imp</a:t>
                      </a:r>
                      <a:r>
                        <a:rPr lang="en-US" sz="1300">
                          <a:solidFill>
                            <a:srgbClr val="002060"/>
                          </a:solidFill>
                          <a:highlight>
                            <a:srgbClr val="FFF2CC"/>
                          </a:highlight>
                        </a:rPr>
                        <a:t>rove this to the vivid colour cloths</a:t>
                      </a:r>
                      <a:r>
                        <a:rPr lang="en-US" sz="1200">
                          <a:solidFill>
                            <a:schemeClr val="dk1"/>
                          </a:solidFill>
                          <a:highlight>
                            <a:srgbClr val="FFF2CC"/>
                          </a:highlight>
                        </a:rPr>
                        <a:t> </a:t>
                      </a:r>
                      <a:endParaRPr sz="1500">
                        <a:solidFill>
                          <a:schemeClr val="dk1"/>
                        </a:solidFill>
                        <a:highlight>
                          <a:srgbClr val="FFF2CC"/>
                        </a:highlight>
                      </a:endParaRPr>
                    </a:p>
                    <a:p>
                      <a:pPr indent="0" lvl="0" marL="0" rtl="0" algn="l">
                        <a:spcBef>
                          <a:spcPts val="0"/>
                        </a:spcBef>
                        <a:spcAft>
                          <a:spcPts val="0"/>
                        </a:spcAft>
                        <a:buNone/>
                      </a:pPr>
                      <a:r>
                        <a:t/>
                      </a:r>
                      <a:endParaRPr sz="1300">
                        <a:solidFill>
                          <a:srgbClr val="002060"/>
                        </a:solidFill>
                        <a:highlight>
                          <a:srgbClr val="FFF2CC"/>
                        </a:highlight>
                      </a:endParaRPr>
                    </a:p>
                  </a:txBody>
                  <a:tcPr marT="91425" marB="91425" marR="91425" marL="91425"/>
                </a:tc>
                <a:tc>
                  <a:txBody>
                    <a:bodyPr/>
                    <a:lstStyle/>
                    <a:p>
                      <a:pPr indent="0" lvl="0" marL="0" rtl="0" algn="l">
                        <a:spcBef>
                          <a:spcPts val="0"/>
                        </a:spcBef>
                        <a:spcAft>
                          <a:spcPts val="0"/>
                        </a:spcAft>
                        <a:buNone/>
                      </a:pPr>
                      <a:r>
                        <a:rPr lang="en-US"/>
                        <a:t>Improved the color identification by enhancing the dataset to provide more accurate names for vivid and diverse clothing colours. </a:t>
                      </a:r>
                      <a:endParaRPr/>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g3f8aed657b0_3_18" title="WhatsApp Video 2026-08-30 at 11.41.05 PM.mp4">
            <a:hlinkClick r:id="rId3"/>
          </p:cNvPr>
          <p:cNvPicPr preferRelativeResize="0"/>
          <p:nvPr/>
        </p:nvPicPr>
        <p:blipFill>
          <a:blip r:embed="rId4">
            <a:alphaModFix/>
          </a:blip>
          <a:stretch>
            <a:fillRect/>
          </a:stretch>
        </p:blipFill>
        <p:spPr>
          <a:xfrm>
            <a:off x="152400" y="152400"/>
            <a:ext cx="11333814" cy="65532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1000"/>
                                        <p:tgtEl>
                                          <p:spTgt spid="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nvSpPr>
        <p:spPr>
          <a:xfrm>
            <a:off x="516466" y="635335"/>
            <a:ext cx="10896600" cy="1385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100" u="sng">
                <a:solidFill>
                  <a:schemeClr val="dk1"/>
                </a:solidFill>
                <a:latin typeface="Cambria"/>
                <a:ea typeface="Cambria"/>
                <a:cs typeface="Cambria"/>
                <a:sym typeface="Cambria"/>
              </a:rPr>
              <a:t>Problem </a:t>
            </a:r>
            <a:endParaRPr sz="2100" u="sng">
              <a:solidFill>
                <a:schemeClr val="dk1"/>
              </a:solidFill>
              <a:latin typeface="Cambria"/>
              <a:ea typeface="Cambria"/>
              <a:cs typeface="Cambria"/>
              <a:sym typeface="Cambria"/>
            </a:endParaRPr>
          </a:p>
          <a:p>
            <a:pPr indent="0" lvl="0" marL="0" marR="0" rtl="0" algn="l">
              <a:spcBef>
                <a:spcPts val="0"/>
              </a:spcBef>
              <a:spcAft>
                <a:spcPts val="0"/>
              </a:spcAft>
              <a:buNone/>
            </a:pPr>
            <a:r>
              <a:rPr lang="en-US" sz="2100">
                <a:solidFill>
                  <a:schemeClr val="dk1"/>
                </a:solidFill>
                <a:latin typeface="Cambria"/>
                <a:ea typeface="Cambria"/>
                <a:cs typeface="Cambria"/>
                <a:sym typeface="Cambria"/>
              </a:rPr>
              <a:t>Many people struggle to choose the right clothing sizes and occasion-appropriate outfits when shopping, while those people with Color Vision Deficiency (CVD) who cannot accurately distinguish certain colors and matching outfit colors when selecting clothing.</a:t>
            </a:r>
            <a:endParaRPr sz="1700"/>
          </a:p>
        </p:txBody>
      </p:sp>
      <p:sp>
        <p:nvSpPr>
          <p:cNvPr id="101" name="Google Shape;101;p3"/>
          <p:cNvSpPr txBox="1"/>
          <p:nvPr/>
        </p:nvSpPr>
        <p:spPr>
          <a:xfrm>
            <a:off x="516467" y="1886129"/>
            <a:ext cx="8763000" cy="160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100" u="sng">
                <a:solidFill>
                  <a:schemeClr val="dk1"/>
                </a:solidFill>
                <a:latin typeface="Cambria"/>
                <a:ea typeface="Cambria"/>
                <a:cs typeface="Cambria"/>
                <a:sym typeface="Cambria"/>
              </a:rPr>
              <a:t>Stakeholders</a:t>
            </a:r>
            <a:r>
              <a:rPr lang="en-US" sz="2100">
                <a:solidFill>
                  <a:schemeClr val="dk1"/>
                </a:solidFill>
                <a:latin typeface="Cambria"/>
                <a:ea typeface="Cambria"/>
                <a:cs typeface="Cambria"/>
                <a:sym typeface="Cambria"/>
              </a:rPr>
              <a:t> </a:t>
            </a:r>
            <a:endParaRPr sz="2100">
              <a:solidFill>
                <a:schemeClr val="dk1"/>
              </a:solidFill>
              <a:latin typeface="Cambria"/>
              <a:ea typeface="Cambria"/>
              <a:cs typeface="Cambria"/>
              <a:sym typeface="Cambria"/>
            </a:endParaRPr>
          </a:p>
          <a:p>
            <a:pPr indent="0" lvl="0" marL="0" marR="0" rtl="0" algn="l">
              <a:spcBef>
                <a:spcPts val="0"/>
              </a:spcBef>
              <a:spcAft>
                <a:spcPts val="0"/>
              </a:spcAft>
              <a:buNone/>
            </a:pPr>
            <a:r>
              <a:rPr lang="en-US" sz="2100">
                <a:solidFill>
                  <a:schemeClr val="dk1"/>
                </a:solidFill>
                <a:latin typeface="Cambria"/>
                <a:ea typeface="Cambria"/>
                <a:cs typeface="Cambria"/>
                <a:sym typeface="Cambria"/>
              </a:rPr>
              <a:t>Fashion retailers, E-commerce platforms,</a:t>
            </a:r>
            <a:r>
              <a:rPr lang="en-US" sz="2100">
                <a:solidFill>
                  <a:schemeClr val="dk1"/>
                </a:solidFill>
                <a:latin typeface="Cambria"/>
                <a:ea typeface="Cambria"/>
                <a:cs typeface="Cambria"/>
                <a:sym typeface="Cambria"/>
              </a:rPr>
              <a:t>individuals with CVD</a:t>
            </a:r>
            <a:br>
              <a:rPr lang="en-US" sz="2100">
                <a:solidFill>
                  <a:schemeClr val="dk1"/>
                </a:solidFill>
                <a:latin typeface="Cambria"/>
                <a:ea typeface="Cambria"/>
                <a:cs typeface="Cambria"/>
                <a:sym typeface="Cambria"/>
              </a:rPr>
            </a:br>
            <a:br>
              <a:rPr lang="en-US" sz="2100">
                <a:solidFill>
                  <a:schemeClr val="dk1"/>
                </a:solidFill>
                <a:latin typeface="Cambria"/>
                <a:ea typeface="Cambria"/>
                <a:cs typeface="Cambria"/>
                <a:sym typeface="Cambria"/>
              </a:rPr>
            </a:br>
            <a:endParaRPr sz="1700"/>
          </a:p>
        </p:txBody>
      </p:sp>
      <p:sp>
        <p:nvSpPr>
          <p:cNvPr id="102" name="Google Shape;102;p3"/>
          <p:cNvSpPr txBox="1"/>
          <p:nvPr/>
        </p:nvSpPr>
        <p:spPr>
          <a:xfrm>
            <a:off x="516466" y="3428997"/>
            <a:ext cx="11370600" cy="1385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100" u="sng">
                <a:solidFill>
                  <a:schemeClr val="dk1"/>
                </a:solidFill>
                <a:latin typeface="Cambria"/>
                <a:ea typeface="Cambria"/>
                <a:cs typeface="Cambria"/>
                <a:sym typeface="Cambria"/>
              </a:rPr>
              <a:t>Measurable pain point</a:t>
            </a:r>
            <a:endParaRPr sz="2100">
              <a:solidFill>
                <a:schemeClr val="dk1"/>
              </a:solidFill>
              <a:latin typeface="Cambria"/>
              <a:ea typeface="Cambria"/>
              <a:cs typeface="Cambria"/>
              <a:sym typeface="Cambria"/>
            </a:endParaRPr>
          </a:p>
          <a:p>
            <a:pPr indent="0" lvl="0" marL="0" marR="0" rtl="0" algn="l">
              <a:spcBef>
                <a:spcPts val="0"/>
              </a:spcBef>
              <a:spcAft>
                <a:spcPts val="0"/>
              </a:spcAft>
              <a:buNone/>
            </a:pPr>
            <a:r>
              <a:rPr lang="en-US" sz="2100">
                <a:solidFill>
                  <a:schemeClr val="dk1"/>
                </a:solidFill>
                <a:latin typeface="Cambria"/>
                <a:ea typeface="Cambria"/>
                <a:cs typeface="Cambria"/>
                <a:sym typeface="Cambria"/>
              </a:rPr>
              <a:t>Without proper size, difficulty choosing suitable outfits, and color guidance, users experience dissatisfaction and frequent returns and CVD individuals face exclusion from an accessible and confident shopping experience for many users. </a:t>
            </a:r>
            <a:endParaRPr sz="2100"/>
          </a:p>
        </p:txBody>
      </p:sp>
      <p:pic>
        <p:nvPicPr>
          <p:cNvPr id="103" name="Google Shape;103;p3"/>
          <p:cNvPicPr preferRelativeResize="0"/>
          <p:nvPr/>
        </p:nvPicPr>
        <p:blipFill rotWithShape="1">
          <a:blip r:embed="rId3">
            <a:alphaModFix/>
          </a:blip>
          <a:srcRect b="0" l="0" r="0" t="0"/>
          <a:stretch/>
        </p:blipFill>
        <p:spPr>
          <a:xfrm>
            <a:off x="8204075" y="4353125"/>
            <a:ext cx="3124199" cy="2082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4"/>
          <p:cNvSpPr/>
          <p:nvPr/>
        </p:nvSpPr>
        <p:spPr>
          <a:xfrm>
            <a:off x="2632435" y="6492874"/>
            <a:ext cx="6816365"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109" name="Google Shape;109;p4"/>
          <p:cNvSpPr txBox="1"/>
          <p:nvPr/>
        </p:nvSpPr>
        <p:spPr>
          <a:xfrm>
            <a:off x="690839" y="3740900"/>
            <a:ext cx="11370600" cy="254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100" u="sng">
                <a:solidFill>
                  <a:schemeClr val="dk1"/>
                </a:solidFill>
                <a:latin typeface="Cambria"/>
                <a:ea typeface="Cambria"/>
                <a:cs typeface="Cambria"/>
                <a:sym typeface="Cambria"/>
              </a:rPr>
              <a:t>Objectives</a:t>
            </a:r>
            <a:r>
              <a:rPr lang="en-US" sz="2100" u="sng">
                <a:solidFill>
                  <a:schemeClr val="dk1"/>
                </a:solidFill>
                <a:latin typeface="Cambria"/>
                <a:ea typeface="Cambria"/>
                <a:cs typeface="Cambria"/>
                <a:sym typeface="Cambria"/>
              </a:rPr>
              <a:t> </a:t>
            </a:r>
            <a:endParaRPr sz="2100" u="sng">
              <a:solidFill>
                <a:schemeClr val="dk1"/>
              </a:solidFill>
              <a:latin typeface="Cambria"/>
              <a:ea typeface="Cambria"/>
              <a:cs typeface="Cambria"/>
              <a:sym typeface="Cambria"/>
            </a:endParaRPr>
          </a:p>
          <a:p>
            <a:pPr indent="0" lvl="0" marL="0" marR="0" rtl="0" algn="l">
              <a:spcBef>
                <a:spcPts val="0"/>
              </a:spcBef>
              <a:spcAft>
                <a:spcPts val="0"/>
              </a:spcAft>
              <a:buNone/>
            </a:pPr>
            <a:r>
              <a:t/>
            </a:r>
            <a:endParaRPr sz="2100" u="sng">
              <a:solidFill>
                <a:schemeClr val="dk1"/>
              </a:solidFill>
              <a:latin typeface="Cambria"/>
              <a:ea typeface="Cambria"/>
              <a:cs typeface="Cambria"/>
              <a:sym typeface="Cambria"/>
            </a:endParaRPr>
          </a:p>
          <a:p>
            <a:pPr indent="-361950" lvl="0" marL="457200" marR="0" rtl="0" algn="l">
              <a:lnSpc>
                <a:spcPct val="115000"/>
              </a:lnSpc>
              <a:spcBef>
                <a:spcPts val="0"/>
              </a:spcBef>
              <a:spcAft>
                <a:spcPts val="0"/>
              </a:spcAft>
              <a:buClr>
                <a:schemeClr val="dk1"/>
              </a:buClr>
              <a:buSzPts val="2100"/>
              <a:buFont typeface="Cambria"/>
              <a:buChar char="★"/>
            </a:pPr>
            <a:r>
              <a:rPr lang="en-US" sz="2100">
                <a:solidFill>
                  <a:schemeClr val="dk1"/>
                </a:solidFill>
                <a:latin typeface="Cambria"/>
                <a:ea typeface="Cambria"/>
                <a:cs typeface="Cambria"/>
                <a:sym typeface="Cambria"/>
              </a:rPr>
              <a:t>Create a body measurement-based clothing size prediction.</a:t>
            </a:r>
            <a:endParaRPr sz="2100">
              <a:solidFill>
                <a:schemeClr val="dk1"/>
              </a:solidFill>
              <a:latin typeface="Cambria"/>
              <a:ea typeface="Cambria"/>
              <a:cs typeface="Cambria"/>
              <a:sym typeface="Cambria"/>
            </a:endParaRPr>
          </a:p>
          <a:p>
            <a:pPr indent="-361950" lvl="0" marL="457200" marR="0" rtl="0" algn="l">
              <a:lnSpc>
                <a:spcPct val="115000"/>
              </a:lnSpc>
              <a:spcBef>
                <a:spcPts val="0"/>
              </a:spcBef>
              <a:spcAft>
                <a:spcPts val="0"/>
              </a:spcAft>
              <a:buClr>
                <a:schemeClr val="dk1"/>
              </a:buClr>
              <a:buSzPts val="2100"/>
              <a:buFont typeface="Cambria"/>
              <a:buChar char="★"/>
            </a:pPr>
            <a:r>
              <a:rPr lang="en-US" sz="2100">
                <a:solidFill>
                  <a:schemeClr val="dk1"/>
                </a:solidFill>
                <a:latin typeface="Cambria"/>
                <a:ea typeface="Cambria"/>
                <a:cs typeface="Cambria"/>
                <a:sym typeface="Cambria"/>
              </a:rPr>
              <a:t>Occasion-based outfit recommendation system.</a:t>
            </a:r>
            <a:endParaRPr sz="2100">
              <a:solidFill>
                <a:schemeClr val="dk1"/>
              </a:solidFill>
              <a:latin typeface="Cambria"/>
              <a:ea typeface="Cambria"/>
              <a:cs typeface="Cambria"/>
              <a:sym typeface="Cambria"/>
            </a:endParaRPr>
          </a:p>
          <a:p>
            <a:pPr indent="-361950" lvl="0" marL="457200" marR="0" rtl="0" algn="l">
              <a:lnSpc>
                <a:spcPct val="115000"/>
              </a:lnSpc>
              <a:spcBef>
                <a:spcPts val="0"/>
              </a:spcBef>
              <a:spcAft>
                <a:spcPts val="0"/>
              </a:spcAft>
              <a:buClr>
                <a:schemeClr val="dk1"/>
              </a:buClr>
              <a:buSzPts val="2100"/>
              <a:buFont typeface="Cambria"/>
              <a:buChar char="★"/>
            </a:pPr>
            <a:r>
              <a:rPr lang="en-US" sz="2100">
                <a:solidFill>
                  <a:schemeClr val="dk1"/>
                </a:solidFill>
                <a:latin typeface="Cambria"/>
                <a:ea typeface="Cambria"/>
                <a:cs typeface="Cambria"/>
                <a:sym typeface="Cambria"/>
              </a:rPr>
              <a:t>AI-powered color identification for CVD uders.</a:t>
            </a:r>
            <a:endParaRPr sz="2100">
              <a:solidFill>
                <a:schemeClr val="dk1"/>
              </a:solidFill>
              <a:latin typeface="Cambria"/>
              <a:ea typeface="Cambria"/>
              <a:cs typeface="Cambria"/>
              <a:sym typeface="Cambria"/>
            </a:endParaRPr>
          </a:p>
          <a:p>
            <a:pPr indent="-361950" lvl="0" marL="457200" marR="0" rtl="0" algn="l">
              <a:lnSpc>
                <a:spcPct val="115000"/>
              </a:lnSpc>
              <a:spcBef>
                <a:spcPts val="0"/>
              </a:spcBef>
              <a:spcAft>
                <a:spcPts val="0"/>
              </a:spcAft>
              <a:buClr>
                <a:schemeClr val="dk1"/>
              </a:buClr>
              <a:buSzPts val="2100"/>
              <a:buFont typeface="Cambria"/>
              <a:buChar char="★"/>
            </a:pPr>
            <a:r>
              <a:rPr lang="en-US" sz="2100">
                <a:solidFill>
                  <a:schemeClr val="dk1"/>
                </a:solidFill>
                <a:latin typeface="Cambria"/>
                <a:ea typeface="Cambria"/>
                <a:cs typeface="Cambria"/>
                <a:sym typeface="Cambria"/>
              </a:rPr>
              <a:t>Color-safe outfit combination recommendations.</a:t>
            </a:r>
            <a:endParaRPr sz="2100">
              <a:solidFill>
                <a:schemeClr val="dk1"/>
              </a:solidFill>
              <a:latin typeface="Cambria"/>
              <a:ea typeface="Cambria"/>
              <a:cs typeface="Cambria"/>
              <a:sym typeface="Cambria"/>
            </a:endParaRPr>
          </a:p>
          <a:p>
            <a:pPr indent="-361950" lvl="0" marL="457200" marR="0" rtl="0" algn="l">
              <a:lnSpc>
                <a:spcPct val="115000"/>
              </a:lnSpc>
              <a:spcBef>
                <a:spcPts val="0"/>
              </a:spcBef>
              <a:spcAft>
                <a:spcPts val="0"/>
              </a:spcAft>
              <a:buClr>
                <a:schemeClr val="dk1"/>
              </a:buClr>
              <a:buSzPts val="2100"/>
              <a:buFont typeface="Cambria"/>
              <a:buChar char="★"/>
            </a:pPr>
            <a:r>
              <a:rPr lang="en-US" sz="2100">
                <a:solidFill>
                  <a:schemeClr val="dk1"/>
                </a:solidFill>
                <a:latin typeface="Cambria"/>
                <a:ea typeface="Cambria"/>
                <a:cs typeface="Cambria"/>
                <a:sym typeface="Cambria"/>
              </a:rPr>
              <a:t>User-Friendly and accessible interface for all users.</a:t>
            </a:r>
            <a:endParaRPr sz="2100">
              <a:solidFill>
                <a:schemeClr val="dk1"/>
              </a:solidFill>
              <a:latin typeface="Cambria"/>
              <a:ea typeface="Cambria"/>
              <a:cs typeface="Cambria"/>
              <a:sym typeface="Cambria"/>
            </a:endParaRPr>
          </a:p>
        </p:txBody>
      </p:sp>
      <p:sp>
        <p:nvSpPr>
          <p:cNvPr id="110" name="Google Shape;110;p4"/>
          <p:cNvSpPr txBox="1"/>
          <p:nvPr/>
        </p:nvSpPr>
        <p:spPr>
          <a:xfrm>
            <a:off x="690850" y="856875"/>
            <a:ext cx="10671900" cy="3001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100" u="sng">
                <a:solidFill>
                  <a:schemeClr val="dk1"/>
                </a:solidFill>
                <a:latin typeface="Cambria"/>
                <a:ea typeface="Cambria"/>
                <a:cs typeface="Cambria"/>
                <a:sym typeface="Cambria"/>
              </a:rPr>
              <a:t>Research Gap</a:t>
            </a:r>
            <a:endParaRPr b="1" sz="2100" u="sng">
              <a:solidFill>
                <a:schemeClr val="dk1"/>
              </a:solidFill>
              <a:latin typeface="Cambria"/>
              <a:ea typeface="Cambria"/>
              <a:cs typeface="Cambria"/>
              <a:sym typeface="Cambria"/>
            </a:endParaRPr>
          </a:p>
          <a:p>
            <a:pPr indent="0" lvl="0" marL="0" marR="0" rtl="0" algn="l">
              <a:spcBef>
                <a:spcPts val="0"/>
              </a:spcBef>
              <a:spcAft>
                <a:spcPts val="0"/>
              </a:spcAft>
              <a:buNone/>
            </a:pPr>
            <a:r>
              <a:t/>
            </a:r>
            <a:endParaRPr b="1" sz="2100" u="sng">
              <a:solidFill>
                <a:schemeClr val="dk1"/>
              </a:solidFill>
              <a:latin typeface="Cambria"/>
              <a:ea typeface="Cambria"/>
              <a:cs typeface="Cambria"/>
              <a:sym typeface="Cambria"/>
            </a:endParaRPr>
          </a:p>
          <a:p>
            <a:pPr indent="-361950" lvl="0" marL="457200" marR="0" rtl="0" algn="l">
              <a:spcBef>
                <a:spcPts val="0"/>
              </a:spcBef>
              <a:spcAft>
                <a:spcPts val="0"/>
              </a:spcAft>
              <a:buClr>
                <a:schemeClr val="dk1"/>
              </a:buClr>
              <a:buSzPts val="2100"/>
              <a:buFont typeface="Cambria"/>
              <a:buChar char="★"/>
            </a:pPr>
            <a:r>
              <a:rPr lang="en-US" sz="2100">
                <a:solidFill>
                  <a:schemeClr val="dk1"/>
                </a:solidFill>
                <a:latin typeface="Cambria"/>
                <a:ea typeface="Cambria"/>
                <a:cs typeface="Cambria"/>
                <a:sym typeface="Cambria"/>
              </a:rPr>
              <a:t>no existing fashion platform fully serves both normal users and CVD-affected individuals together</a:t>
            </a:r>
            <a:endParaRPr sz="2100">
              <a:solidFill>
                <a:schemeClr val="dk1"/>
              </a:solidFill>
              <a:latin typeface="Cambria"/>
              <a:ea typeface="Cambria"/>
              <a:cs typeface="Cambria"/>
              <a:sym typeface="Cambria"/>
            </a:endParaRPr>
          </a:p>
          <a:p>
            <a:pPr indent="-361950" lvl="0" marL="457200" rtl="0" algn="l">
              <a:spcBef>
                <a:spcPts val="0"/>
              </a:spcBef>
              <a:spcAft>
                <a:spcPts val="0"/>
              </a:spcAft>
              <a:buClr>
                <a:schemeClr val="dk1"/>
              </a:buClr>
              <a:buSzPts val="2100"/>
              <a:buFont typeface="Cambria"/>
              <a:buChar char="★"/>
            </a:pPr>
            <a:r>
              <a:rPr lang="en-US" sz="2100">
                <a:solidFill>
                  <a:schemeClr val="dk1"/>
                </a:solidFill>
                <a:latin typeface="Cambria"/>
                <a:ea typeface="Cambria"/>
                <a:cs typeface="Cambria"/>
                <a:sym typeface="Cambria"/>
              </a:rPr>
              <a:t>Existing fashion systems provide limited personalization by considering users’ individual characteristics and preferences.</a:t>
            </a:r>
            <a:endParaRPr sz="2100">
              <a:solidFill>
                <a:schemeClr val="dk1"/>
              </a:solidFill>
              <a:latin typeface="Cambria"/>
              <a:ea typeface="Cambria"/>
              <a:cs typeface="Cambria"/>
              <a:sym typeface="Cambria"/>
            </a:endParaRPr>
          </a:p>
          <a:p>
            <a:pPr indent="-361950" lvl="0" marL="457200" rtl="0" algn="l">
              <a:spcBef>
                <a:spcPts val="0"/>
              </a:spcBef>
              <a:spcAft>
                <a:spcPts val="0"/>
              </a:spcAft>
              <a:buClr>
                <a:schemeClr val="dk1"/>
              </a:buClr>
              <a:buSzPts val="2100"/>
              <a:buFont typeface="Cambria"/>
              <a:buChar char="★"/>
            </a:pPr>
            <a:r>
              <a:rPr lang="en-US" sz="2100">
                <a:solidFill>
                  <a:schemeClr val="dk1"/>
                </a:solidFill>
                <a:latin typeface="Cambria"/>
                <a:ea typeface="Cambria"/>
                <a:cs typeface="Cambria"/>
                <a:sym typeface="Cambria"/>
              </a:rPr>
              <a:t>There is a lack of an integrated and accessible AI-based approach that addresses the diverse needs of users throughout the clothing selection process.</a:t>
            </a:r>
            <a:endParaRPr sz="2100">
              <a:solidFill>
                <a:schemeClr val="dk1"/>
              </a:solidFill>
              <a:latin typeface="Cambria"/>
              <a:ea typeface="Cambria"/>
              <a:cs typeface="Cambria"/>
              <a:sym typeface="Cambria"/>
            </a:endParaRPr>
          </a:p>
          <a:p>
            <a:pPr indent="0" lvl="0" marL="0" marR="0" rtl="0" algn="l">
              <a:spcBef>
                <a:spcPts val="0"/>
              </a:spcBef>
              <a:spcAft>
                <a:spcPts val="0"/>
              </a:spcAft>
              <a:buNone/>
            </a:pPr>
            <a:r>
              <a:t/>
            </a:r>
            <a:endParaRPr sz="2100">
              <a:solidFill>
                <a:schemeClr val="dk1"/>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f8aed657b0_1_20"/>
          <p:cNvSpPr txBox="1"/>
          <p:nvPr>
            <p:ph type="title"/>
          </p:nvPr>
        </p:nvSpPr>
        <p:spPr>
          <a:xfrm>
            <a:off x="483825" y="221482"/>
            <a:ext cx="10363200" cy="5646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Clr>
                <a:schemeClr val="dk1"/>
              </a:buClr>
              <a:buFont typeface="Arial"/>
              <a:buNone/>
            </a:pPr>
            <a:r>
              <a:rPr lang="en-US" sz="2100">
                <a:latin typeface="Cambria"/>
                <a:ea typeface="Cambria"/>
                <a:cs typeface="Cambria"/>
                <a:sym typeface="Cambria"/>
              </a:rPr>
              <a:t>Solution Overview + Architecture</a:t>
            </a:r>
            <a:endParaRPr/>
          </a:p>
        </p:txBody>
      </p:sp>
      <p:pic>
        <p:nvPicPr>
          <p:cNvPr id="117" name="Google Shape;117;g3f8aed657b0_1_20" title="WhatsApp Image 2026-08-30 at 23.28.15.jpeg"/>
          <p:cNvPicPr preferRelativeResize="0"/>
          <p:nvPr/>
        </p:nvPicPr>
        <p:blipFill>
          <a:blip r:embed="rId3">
            <a:alphaModFix/>
          </a:blip>
          <a:stretch>
            <a:fillRect/>
          </a:stretch>
        </p:blipFill>
        <p:spPr>
          <a:xfrm>
            <a:off x="152400" y="938482"/>
            <a:ext cx="11887201" cy="42029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g3f8aed657b0_3_30" title="WhatsApp Image 2026-08-30 at 23.58.42.jpeg"/>
          <p:cNvPicPr preferRelativeResize="0"/>
          <p:nvPr/>
        </p:nvPicPr>
        <p:blipFill>
          <a:blip r:embed="rId3">
            <a:alphaModFix/>
          </a:blip>
          <a:stretch>
            <a:fillRect/>
          </a:stretch>
        </p:blipFill>
        <p:spPr>
          <a:xfrm>
            <a:off x="2868550" y="152400"/>
            <a:ext cx="6454902" cy="655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f8aed657b0_1_27"/>
          <p:cNvSpPr txBox="1"/>
          <p:nvPr/>
        </p:nvSpPr>
        <p:spPr>
          <a:xfrm>
            <a:off x="566675" y="0"/>
            <a:ext cx="47889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100">
                <a:solidFill>
                  <a:schemeClr val="dk1"/>
                </a:solidFill>
                <a:latin typeface="Cambria"/>
                <a:ea typeface="Cambria"/>
                <a:cs typeface="Cambria"/>
                <a:sym typeface="Cambria"/>
              </a:rPr>
              <a:t>Integration and completion status</a:t>
            </a:r>
            <a:endParaRPr/>
          </a:p>
        </p:txBody>
      </p:sp>
      <p:graphicFrame>
        <p:nvGraphicFramePr>
          <p:cNvPr id="130" name="Google Shape;130;g3f8aed657b0_1_27"/>
          <p:cNvGraphicFramePr/>
          <p:nvPr/>
        </p:nvGraphicFramePr>
        <p:xfrm>
          <a:off x="1104875" y="1119000"/>
          <a:ext cx="3000000" cy="3000000"/>
        </p:xfrm>
        <a:graphic>
          <a:graphicData uri="http://schemas.openxmlformats.org/drawingml/2006/table">
            <a:tbl>
              <a:tblPr>
                <a:noFill/>
                <a:tableStyleId>{2408ED77-F72C-40E4-819F-6961558314F8}</a:tableStyleId>
              </a:tblPr>
              <a:tblGrid>
                <a:gridCol w="3771025"/>
                <a:gridCol w="2746525"/>
                <a:gridCol w="2811925"/>
              </a:tblGrid>
              <a:tr h="615600">
                <a:tc>
                  <a:txBody>
                    <a:bodyPr/>
                    <a:lstStyle/>
                    <a:p>
                      <a:pPr indent="0" lvl="0" marL="0" rtl="0" algn="ctr">
                        <a:lnSpc>
                          <a:spcPct val="115000"/>
                        </a:lnSpc>
                        <a:spcBef>
                          <a:spcPts val="0"/>
                        </a:spcBef>
                        <a:spcAft>
                          <a:spcPts val="0"/>
                        </a:spcAft>
                        <a:buNone/>
                      </a:pPr>
                      <a:r>
                        <a:rPr b="1" lang="en-US" sz="1700">
                          <a:latin typeface="Cambria"/>
                          <a:ea typeface="Cambria"/>
                          <a:cs typeface="Cambria"/>
                          <a:sym typeface="Cambria"/>
                        </a:rPr>
                        <a:t>Function</a:t>
                      </a:r>
                      <a:endParaRPr b="1" sz="1700">
                        <a:latin typeface="Cambria"/>
                        <a:ea typeface="Cambria"/>
                        <a:cs typeface="Cambria"/>
                        <a:sym typeface="Cambria"/>
                      </a:endParaRPr>
                    </a:p>
                  </a:txBody>
                  <a:tcPr marT="91425" marB="91425" marR="91425" marL="91425"/>
                </a:tc>
                <a:tc>
                  <a:txBody>
                    <a:bodyPr/>
                    <a:lstStyle/>
                    <a:p>
                      <a:pPr indent="0" lvl="0" marL="0" rtl="0" algn="l">
                        <a:lnSpc>
                          <a:spcPct val="115000"/>
                        </a:lnSpc>
                        <a:spcBef>
                          <a:spcPts val="0"/>
                        </a:spcBef>
                        <a:spcAft>
                          <a:spcPts val="0"/>
                        </a:spcAft>
                        <a:buNone/>
                      </a:pPr>
                      <a:r>
                        <a:rPr b="1" lang="en-US" sz="1700">
                          <a:latin typeface="Cambria"/>
                          <a:ea typeface="Cambria"/>
                          <a:cs typeface="Cambria"/>
                          <a:sym typeface="Cambria"/>
                        </a:rPr>
                        <a:t>I</a:t>
                      </a:r>
                      <a:r>
                        <a:rPr b="1" lang="en-US" sz="1700">
                          <a:latin typeface="Cambria"/>
                          <a:ea typeface="Cambria"/>
                          <a:cs typeface="Cambria"/>
                          <a:sym typeface="Cambria"/>
                        </a:rPr>
                        <a:t>ntegration Status</a:t>
                      </a:r>
                      <a:endParaRPr b="1" sz="1700">
                        <a:latin typeface="Cambria"/>
                        <a:ea typeface="Cambria"/>
                        <a:cs typeface="Cambria"/>
                        <a:sym typeface="Cambria"/>
                      </a:endParaRPr>
                    </a:p>
                  </a:txBody>
                  <a:tcPr marT="91425" marB="91425" marR="91425" marL="91425"/>
                </a:tc>
                <a:tc>
                  <a:txBody>
                    <a:bodyPr/>
                    <a:lstStyle/>
                    <a:p>
                      <a:pPr indent="0" lvl="0" marL="0" rtl="0" algn="ctr">
                        <a:lnSpc>
                          <a:spcPct val="115000"/>
                        </a:lnSpc>
                        <a:spcBef>
                          <a:spcPts val="0"/>
                        </a:spcBef>
                        <a:spcAft>
                          <a:spcPts val="0"/>
                        </a:spcAft>
                        <a:buNone/>
                      </a:pPr>
                      <a:r>
                        <a:rPr b="1" lang="en-US" sz="1700">
                          <a:latin typeface="Cambria"/>
                          <a:ea typeface="Cambria"/>
                          <a:cs typeface="Cambria"/>
                          <a:sym typeface="Cambria"/>
                        </a:rPr>
                        <a:t>Completion Status</a:t>
                      </a:r>
                      <a:endParaRPr b="1" sz="1700">
                        <a:latin typeface="Cambria"/>
                        <a:ea typeface="Cambria"/>
                        <a:cs typeface="Cambria"/>
                        <a:sym typeface="Cambria"/>
                      </a:endParaRPr>
                    </a:p>
                  </a:txBody>
                  <a:tcPr marT="91425" marB="91425" marR="91425" marL="91425"/>
                </a:tc>
              </a:tr>
              <a:tr h="646975">
                <a:tc>
                  <a:txBody>
                    <a:bodyPr/>
                    <a:lstStyle/>
                    <a:p>
                      <a:pPr indent="0" lvl="0" marL="0" rtl="0" algn="l">
                        <a:spcBef>
                          <a:spcPts val="0"/>
                        </a:spcBef>
                        <a:spcAft>
                          <a:spcPts val="0"/>
                        </a:spcAft>
                        <a:buNone/>
                      </a:pPr>
                      <a:r>
                        <a:rPr lang="en-US" sz="1600">
                          <a:latin typeface="Cambria"/>
                          <a:ea typeface="Cambria"/>
                          <a:cs typeface="Cambria"/>
                          <a:sym typeface="Cambria"/>
                        </a:rPr>
                        <a:t>AI-based virtual intelligent Size recommendation</a:t>
                      </a:r>
                      <a:endParaRPr sz="1600">
                        <a:latin typeface="Cambria"/>
                        <a:ea typeface="Cambria"/>
                        <a:cs typeface="Cambria"/>
                        <a:sym typeface="Cambria"/>
                      </a:endParaRPr>
                    </a:p>
                  </a:txBody>
                  <a:tcPr marT="91425" marB="91425" marR="91425" marL="91425"/>
                </a:tc>
                <a:tc>
                  <a:txBody>
                    <a:bodyPr/>
                    <a:lstStyle/>
                    <a:p>
                      <a:pPr indent="0" lvl="0" marL="0" rtl="0" algn="l">
                        <a:spcBef>
                          <a:spcPts val="0"/>
                        </a:spcBef>
                        <a:spcAft>
                          <a:spcPts val="0"/>
                        </a:spcAft>
                        <a:buNone/>
                      </a:pPr>
                      <a:r>
                        <a:rPr lang="en-US" sz="1600">
                          <a:latin typeface="Cambria"/>
                          <a:ea typeface="Cambria"/>
                          <a:cs typeface="Cambria"/>
                          <a:sym typeface="Cambria"/>
                        </a:rPr>
                        <a:t>Integrated</a:t>
                      </a:r>
                      <a:endParaRPr sz="1600">
                        <a:latin typeface="Cambria"/>
                        <a:ea typeface="Cambria"/>
                        <a:cs typeface="Cambria"/>
                        <a:sym typeface="Cambria"/>
                      </a:endParaRPr>
                    </a:p>
                  </a:txBody>
                  <a:tcPr marT="91425" marB="91425" marR="91425" marL="91425"/>
                </a:tc>
                <a:tc>
                  <a:txBody>
                    <a:bodyPr/>
                    <a:lstStyle/>
                    <a:p>
                      <a:pPr indent="0" lvl="0" marL="0" rtl="0" algn="l">
                        <a:spcBef>
                          <a:spcPts val="0"/>
                        </a:spcBef>
                        <a:spcAft>
                          <a:spcPts val="0"/>
                        </a:spcAft>
                        <a:buNone/>
                      </a:pPr>
                      <a:r>
                        <a:rPr lang="en-US" sz="1500">
                          <a:latin typeface="Cambria"/>
                          <a:ea typeface="Cambria"/>
                          <a:cs typeface="Cambria"/>
                          <a:sym typeface="Cambria"/>
                        </a:rPr>
                        <a:t>                        </a:t>
                      </a:r>
                      <a:r>
                        <a:rPr lang="en-US" sz="1600">
                          <a:latin typeface="Cambria"/>
                          <a:ea typeface="Cambria"/>
                          <a:cs typeface="Cambria"/>
                          <a:sym typeface="Cambria"/>
                        </a:rPr>
                        <a:t>9</a:t>
                      </a:r>
                      <a:r>
                        <a:rPr lang="en-US" sz="1600">
                          <a:latin typeface="Cambria"/>
                          <a:ea typeface="Cambria"/>
                          <a:cs typeface="Cambria"/>
                          <a:sym typeface="Cambria"/>
                        </a:rPr>
                        <a:t>0%</a:t>
                      </a:r>
                      <a:endParaRPr sz="1600">
                        <a:latin typeface="Cambria"/>
                        <a:ea typeface="Cambria"/>
                        <a:cs typeface="Cambria"/>
                        <a:sym typeface="Cambria"/>
                      </a:endParaRPr>
                    </a:p>
                  </a:txBody>
                  <a:tcPr marT="91425" marB="91425" marR="91425" marL="91425"/>
                </a:tc>
              </a:tr>
              <a:tr h="646975">
                <a:tc>
                  <a:txBody>
                    <a:bodyPr/>
                    <a:lstStyle/>
                    <a:p>
                      <a:pPr indent="0" lvl="0" marL="0" rtl="0" algn="l">
                        <a:spcBef>
                          <a:spcPts val="0"/>
                        </a:spcBef>
                        <a:spcAft>
                          <a:spcPts val="0"/>
                        </a:spcAft>
                        <a:buNone/>
                      </a:pPr>
                      <a:r>
                        <a:rPr lang="en-US" sz="1600">
                          <a:latin typeface="Cambria"/>
                          <a:ea typeface="Cambria"/>
                          <a:cs typeface="Cambria"/>
                          <a:sym typeface="Cambria"/>
                        </a:rPr>
                        <a:t>Intelligent text-driven fashion recommendation</a:t>
                      </a:r>
                      <a:endParaRPr sz="1600">
                        <a:latin typeface="Cambria"/>
                        <a:ea typeface="Cambria"/>
                        <a:cs typeface="Cambria"/>
                        <a:sym typeface="Cambria"/>
                      </a:endParaRPr>
                    </a:p>
                  </a:txBody>
                  <a:tcPr marT="91425" marB="91425" marR="91425" marL="91425"/>
                </a:tc>
                <a:tc>
                  <a:txBody>
                    <a:bodyPr/>
                    <a:lstStyle/>
                    <a:p>
                      <a:pPr indent="0" lvl="0" marL="0" rtl="0" algn="l">
                        <a:spcBef>
                          <a:spcPts val="0"/>
                        </a:spcBef>
                        <a:spcAft>
                          <a:spcPts val="0"/>
                        </a:spcAft>
                        <a:buNone/>
                      </a:pPr>
                      <a:r>
                        <a:rPr lang="en-US" sz="1600">
                          <a:latin typeface="Cambria"/>
                          <a:ea typeface="Cambria"/>
                          <a:cs typeface="Cambria"/>
                          <a:sym typeface="Cambria"/>
                        </a:rPr>
                        <a:t>Integrated</a:t>
                      </a:r>
                      <a:endParaRPr sz="1600">
                        <a:latin typeface="Cambria"/>
                        <a:ea typeface="Cambria"/>
                        <a:cs typeface="Cambria"/>
                        <a:sym typeface="Cambria"/>
                      </a:endParaRPr>
                    </a:p>
                  </a:txBody>
                  <a:tcPr marT="91425" marB="91425" marR="91425" marL="91425"/>
                </a:tc>
                <a:tc>
                  <a:txBody>
                    <a:bodyPr/>
                    <a:lstStyle/>
                    <a:p>
                      <a:pPr indent="0" lvl="0" marL="0" rtl="0" algn="l">
                        <a:spcBef>
                          <a:spcPts val="0"/>
                        </a:spcBef>
                        <a:spcAft>
                          <a:spcPts val="0"/>
                        </a:spcAft>
                        <a:buNone/>
                      </a:pPr>
                      <a:r>
                        <a:rPr lang="en-US" sz="1600">
                          <a:latin typeface="Cambria"/>
                          <a:ea typeface="Cambria"/>
                          <a:cs typeface="Cambria"/>
                          <a:sym typeface="Cambria"/>
                        </a:rPr>
                        <a:t>                       90%</a:t>
                      </a:r>
                      <a:endParaRPr sz="1600">
                        <a:latin typeface="Cambria"/>
                        <a:ea typeface="Cambria"/>
                        <a:cs typeface="Cambria"/>
                        <a:sym typeface="Cambria"/>
                      </a:endParaRPr>
                    </a:p>
                  </a:txBody>
                  <a:tcPr marT="91425" marB="91425" marR="91425" marL="91425"/>
                </a:tc>
              </a:tr>
              <a:tr h="646975">
                <a:tc>
                  <a:txBody>
                    <a:bodyPr/>
                    <a:lstStyle/>
                    <a:p>
                      <a:pPr indent="0" lvl="0" marL="0" rtl="0" algn="l">
                        <a:lnSpc>
                          <a:spcPct val="115000"/>
                        </a:lnSpc>
                        <a:spcBef>
                          <a:spcPts val="0"/>
                        </a:spcBef>
                        <a:spcAft>
                          <a:spcPts val="0"/>
                        </a:spcAft>
                        <a:buClr>
                          <a:schemeClr val="dk1"/>
                        </a:buClr>
                        <a:buSzPts val="1100"/>
                        <a:buFont typeface="Arial"/>
                        <a:buNone/>
                      </a:pPr>
                      <a:r>
                        <a:rPr lang="en-US" sz="1600">
                          <a:solidFill>
                            <a:schemeClr val="dk1"/>
                          </a:solidFill>
                          <a:latin typeface="Cambria"/>
                          <a:ea typeface="Cambria"/>
                          <a:cs typeface="Cambria"/>
                          <a:sym typeface="Cambria"/>
                        </a:rPr>
                        <a:t>AI-driven color assist for  color vision deficiency</a:t>
                      </a:r>
                      <a:endParaRPr sz="1600">
                        <a:solidFill>
                          <a:schemeClr val="dk1"/>
                        </a:solidFill>
                        <a:latin typeface="Cambria"/>
                        <a:ea typeface="Cambria"/>
                        <a:cs typeface="Cambria"/>
                        <a:sym typeface="Cambria"/>
                      </a:endParaRPr>
                    </a:p>
                    <a:p>
                      <a:pPr indent="0" lvl="0" marL="0" rtl="0" algn="l">
                        <a:spcBef>
                          <a:spcPts val="0"/>
                        </a:spcBef>
                        <a:spcAft>
                          <a:spcPts val="0"/>
                        </a:spcAft>
                        <a:buNone/>
                      </a:pPr>
                      <a:r>
                        <a:t/>
                      </a:r>
                      <a:endParaRPr>
                        <a:latin typeface="Cambria"/>
                        <a:ea typeface="Cambria"/>
                        <a:cs typeface="Cambria"/>
                        <a:sym typeface="Cambria"/>
                      </a:endParaRPr>
                    </a:p>
                  </a:txBody>
                  <a:tcPr marT="91425" marB="91425" marR="91425" marL="91425"/>
                </a:tc>
                <a:tc>
                  <a:txBody>
                    <a:bodyPr/>
                    <a:lstStyle/>
                    <a:p>
                      <a:pPr indent="0" lvl="0" marL="0" rtl="0" algn="l">
                        <a:spcBef>
                          <a:spcPts val="0"/>
                        </a:spcBef>
                        <a:spcAft>
                          <a:spcPts val="0"/>
                        </a:spcAft>
                        <a:buNone/>
                      </a:pPr>
                      <a:r>
                        <a:rPr lang="en-US" sz="1600">
                          <a:latin typeface="Cambria"/>
                          <a:ea typeface="Cambria"/>
                          <a:cs typeface="Cambria"/>
                          <a:sym typeface="Cambria"/>
                        </a:rPr>
                        <a:t>Integrated</a:t>
                      </a:r>
                      <a:endParaRPr sz="1600">
                        <a:latin typeface="Cambria"/>
                        <a:ea typeface="Cambria"/>
                        <a:cs typeface="Cambria"/>
                        <a:sym typeface="Cambria"/>
                      </a:endParaRPr>
                    </a:p>
                  </a:txBody>
                  <a:tcPr marT="91425" marB="91425" marR="91425" marL="91425"/>
                </a:tc>
                <a:tc>
                  <a:txBody>
                    <a:bodyPr/>
                    <a:lstStyle/>
                    <a:p>
                      <a:pPr indent="0" lvl="0" marL="0" rtl="0" algn="l">
                        <a:spcBef>
                          <a:spcPts val="0"/>
                        </a:spcBef>
                        <a:spcAft>
                          <a:spcPts val="0"/>
                        </a:spcAft>
                        <a:buNone/>
                      </a:pPr>
                      <a:r>
                        <a:rPr lang="en-US" sz="1600">
                          <a:latin typeface="Cambria"/>
                          <a:ea typeface="Cambria"/>
                          <a:cs typeface="Cambria"/>
                          <a:sym typeface="Cambria"/>
                        </a:rPr>
                        <a:t>                       90%</a:t>
                      </a:r>
                      <a:endParaRPr sz="1600">
                        <a:latin typeface="Cambria"/>
                        <a:ea typeface="Cambria"/>
                        <a:cs typeface="Cambria"/>
                        <a:sym typeface="Cambria"/>
                      </a:endParaRPr>
                    </a:p>
                  </a:txBody>
                  <a:tcPr marT="91425" marB="91425" marR="91425" marL="91425"/>
                </a:tc>
              </a:tr>
              <a:tr h="703000">
                <a:tc>
                  <a:txBody>
                    <a:bodyPr/>
                    <a:lstStyle/>
                    <a:p>
                      <a:pPr indent="0" lvl="0" marL="0" rtl="0" algn="l">
                        <a:spcBef>
                          <a:spcPts val="0"/>
                        </a:spcBef>
                        <a:spcAft>
                          <a:spcPts val="0"/>
                        </a:spcAft>
                        <a:buNone/>
                      </a:pPr>
                      <a:r>
                        <a:rPr lang="en-US" sz="1600">
                          <a:solidFill>
                            <a:schemeClr val="dk1"/>
                          </a:solidFill>
                          <a:latin typeface="Cambria"/>
                          <a:ea typeface="Cambria"/>
                          <a:cs typeface="Cambria"/>
                          <a:sym typeface="Cambria"/>
                        </a:rPr>
                        <a:t>Adaptive outfit matching </a:t>
                      </a:r>
                      <a:endParaRPr sz="1600">
                        <a:latin typeface="Cambria"/>
                        <a:ea typeface="Cambria"/>
                        <a:cs typeface="Cambria"/>
                        <a:sym typeface="Cambria"/>
                      </a:endParaRPr>
                    </a:p>
                  </a:txBody>
                  <a:tcPr marT="91425" marB="91425" marR="91425" marL="91425"/>
                </a:tc>
                <a:tc>
                  <a:txBody>
                    <a:bodyPr/>
                    <a:lstStyle/>
                    <a:p>
                      <a:pPr indent="0" lvl="0" marL="0" rtl="0" algn="l">
                        <a:spcBef>
                          <a:spcPts val="0"/>
                        </a:spcBef>
                        <a:spcAft>
                          <a:spcPts val="0"/>
                        </a:spcAft>
                        <a:buNone/>
                      </a:pPr>
                      <a:r>
                        <a:rPr lang="en-US" sz="1600">
                          <a:latin typeface="Cambria"/>
                          <a:ea typeface="Cambria"/>
                          <a:cs typeface="Cambria"/>
                          <a:sym typeface="Cambria"/>
                        </a:rPr>
                        <a:t>Integrated</a:t>
                      </a:r>
                      <a:endParaRPr sz="1600">
                        <a:latin typeface="Cambria"/>
                        <a:ea typeface="Cambria"/>
                        <a:cs typeface="Cambria"/>
                        <a:sym typeface="Cambria"/>
                      </a:endParaRPr>
                    </a:p>
                  </a:txBody>
                  <a:tcPr marT="91425" marB="91425" marR="91425" marL="91425"/>
                </a:tc>
                <a:tc>
                  <a:txBody>
                    <a:bodyPr/>
                    <a:lstStyle/>
                    <a:p>
                      <a:pPr indent="0" lvl="0" marL="0" rtl="0" algn="l">
                        <a:spcBef>
                          <a:spcPts val="0"/>
                        </a:spcBef>
                        <a:spcAft>
                          <a:spcPts val="0"/>
                        </a:spcAft>
                        <a:buNone/>
                      </a:pPr>
                      <a:r>
                        <a:rPr lang="en-US" sz="1600">
                          <a:latin typeface="Cambria"/>
                          <a:ea typeface="Cambria"/>
                          <a:cs typeface="Cambria"/>
                          <a:sym typeface="Cambria"/>
                        </a:rPr>
                        <a:t>                       90%</a:t>
                      </a:r>
                      <a:endParaRPr sz="1600">
                        <a:latin typeface="Cambria"/>
                        <a:ea typeface="Cambria"/>
                        <a:cs typeface="Cambria"/>
                        <a:sym typeface="Cambria"/>
                      </a:endParaRPr>
                    </a:p>
                  </a:txBody>
                  <a:tcPr marT="91425" marB="91425" marR="91425" marL="91425"/>
                </a:tc>
              </a:tr>
            </a:tbl>
          </a:graphicData>
        </a:graphic>
      </p:graphicFrame>
      <p:graphicFrame>
        <p:nvGraphicFramePr>
          <p:cNvPr id="131" name="Google Shape;131;g3f8aed657b0_1_27"/>
          <p:cNvGraphicFramePr/>
          <p:nvPr/>
        </p:nvGraphicFramePr>
        <p:xfrm>
          <a:off x="672350" y="1119000"/>
          <a:ext cx="3000000" cy="3000000"/>
        </p:xfrm>
        <a:graphic>
          <a:graphicData uri="http://schemas.openxmlformats.org/drawingml/2006/table">
            <a:tbl>
              <a:tblPr>
                <a:noFill/>
                <a:tableStyleId>{A9940763-D4CB-4C20-ACFE-D7CAF158DE7C}</a:tableStyleId>
              </a:tblPr>
              <a:tblGrid>
                <a:gridCol w="4003300"/>
                <a:gridCol w="2910725"/>
                <a:gridCol w="3429000"/>
              </a:tblGrid>
              <a:tr h="6156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7481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608125">
                <a:tc>
                  <a:txBody>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787225">
                <a:tc>
                  <a:txBody>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8164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f8aed657b0_1_37"/>
          <p:cNvSpPr txBox="1"/>
          <p:nvPr/>
        </p:nvSpPr>
        <p:spPr>
          <a:xfrm>
            <a:off x="692975" y="737150"/>
            <a:ext cx="10077300" cy="523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200">
              <a:solidFill>
                <a:schemeClr val="dk1"/>
              </a:solidFill>
              <a:latin typeface="Cambria"/>
              <a:ea typeface="Cambria"/>
              <a:cs typeface="Cambria"/>
              <a:sym typeface="Cambria"/>
            </a:endParaRPr>
          </a:p>
        </p:txBody>
      </p:sp>
      <p:pic>
        <p:nvPicPr>
          <p:cNvPr id="138" name="Google Shape;138;g3f8aed657b0_1_37" title="ChatGPT Image Aug 31, 2026, 01_03_19 AM.png"/>
          <p:cNvPicPr preferRelativeResize="0"/>
          <p:nvPr/>
        </p:nvPicPr>
        <p:blipFill>
          <a:blip r:embed="rId3">
            <a:alphaModFix/>
          </a:blip>
          <a:stretch>
            <a:fillRect/>
          </a:stretch>
        </p:blipFill>
        <p:spPr>
          <a:xfrm>
            <a:off x="1542701" y="393475"/>
            <a:ext cx="9106575" cy="6071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f8aed657b0_1_43"/>
          <p:cNvSpPr txBox="1"/>
          <p:nvPr/>
        </p:nvSpPr>
        <p:spPr>
          <a:xfrm>
            <a:off x="566675" y="0"/>
            <a:ext cx="47889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100">
                <a:solidFill>
                  <a:schemeClr val="dk1"/>
                </a:solidFill>
                <a:latin typeface="Cambria"/>
                <a:ea typeface="Cambria"/>
                <a:cs typeface="Cambria"/>
                <a:sym typeface="Cambria"/>
              </a:rPr>
              <a:t>Commercialization</a:t>
            </a:r>
            <a:endParaRPr/>
          </a:p>
        </p:txBody>
      </p:sp>
      <p:pic>
        <p:nvPicPr>
          <p:cNvPr id="145" name="Google Shape;145;g3f8aed657b0_1_43"/>
          <p:cNvPicPr preferRelativeResize="0"/>
          <p:nvPr/>
        </p:nvPicPr>
        <p:blipFill>
          <a:blip r:embed="rId3">
            <a:alphaModFix/>
          </a:blip>
          <a:stretch>
            <a:fillRect/>
          </a:stretch>
        </p:blipFill>
        <p:spPr>
          <a:xfrm>
            <a:off x="1262238" y="507900"/>
            <a:ext cx="9667534" cy="60452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C351CF19874D54390B54B723E8A2D43" ma:contentTypeVersion="12" ma:contentTypeDescription="Create a new document." ma:contentTypeScope="" ma:versionID="1b463a5cf12690795c70ca22925accb2">
  <xsd:schema xmlns:xsd="http://www.w3.org/2001/XMLSchema" xmlns:xs="http://www.w3.org/2001/XMLSchema" xmlns:p="http://schemas.microsoft.com/office/2006/metadata/properties" xmlns:ns2="5aad1aa7-8ede-435c-b3a7-ac11bacaeb50" xmlns:ns3="db72c12f-87a4-44ab-bbc5-4cc8306b158a" targetNamespace="http://schemas.microsoft.com/office/2006/metadata/properties" ma:root="true" ma:fieldsID="8257c98c4c60cf9cc366d29f7e570d5e" ns2:_="" ns3:_="">
    <xsd:import namespace="5aad1aa7-8ede-435c-b3a7-ac11bacaeb50"/>
    <xsd:import namespace="db72c12f-87a4-44ab-bbc5-4cc8306b158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ad1aa7-8ede-435c-b3a7-ac11bacaeb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c8a686f-bba2-44f2-819b-edf0b3003fb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b72c12f-87a4-44ab-bbc5-4cc8306b158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a90b710-f748-4220-b362-4102ae550bf9}" ma:internalName="TaxCatchAll" ma:showField="CatchAllData" ma:web="db72c12f-87a4-44ab-bbc5-4cc8306b15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b72c12f-87a4-44ab-bbc5-4cc8306b158a" xsi:nil="true"/>
    <lcf76f155ced4ddcb4097134ff3c332f xmlns="5aad1aa7-8ede-435c-b3a7-ac11bacaeb5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3F16126-43EA-4555-A9F2-39CCE50CED41}"/>
</file>

<file path=customXml/itemProps2.xml><?xml version="1.0" encoding="utf-8"?>
<ds:datastoreItem xmlns:ds="http://schemas.openxmlformats.org/officeDocument/2006/customXml" ds:itemID="{54B8BE1D-4A41-4B40-B9F4-DB4D86825CBF}"/>
</file>

<file path=customXml/itemProps3.xml><?xml version="1.0" encoding="utf-8"?>
<ds:datastoreItem xmlns:ds="http://schemas.openxmlformats.org/officeDocument/2006/customXml" ds:itemID="{AA669A2A-90EF-4BF7-9C6E-604201652F67}"/>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Koliya Pulasinghe</dc:creator>
  <dcterms:created xsi:type="dcterms:W3CDTF">2025-08-25T09:34:25Z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0x0101003C351CF19874D54390B54B723E8A2D43</vt:lpwstr>
  </property>
</Properties>
</file>